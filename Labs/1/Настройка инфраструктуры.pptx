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602" r:id="rId3"/>
    <p:sldId id="615" r:id="rId4"/>
    <p:sldId id="603" r:id="rId5"/>
    <p:sldId id="604" r:id="rId6"/>
    <p:sldId id="617" r:id="rId7"/>
    <p:sldId id="605" r:id="rId8"/>
    <p:sldId id="616" r:id="rId9"/>
    <p:sldId id="634" r:id="rId10"/>
    <p:sldId id="618" r:id="rId11"/>
    <p:sldId id="619" r:id="rId12"/>
    <p:sldId id="607" r:id="rId13"/>
    <p:sldId id="608" r:id="rId14"/>
    <p:sldId id="621" r:id="rId15"/>
    <p:sldId id="633" r:id="rId16"/>
    <p:sldId id="632" r:id="rId17"/>
    <p:sldId id="620" r:id="rId18"/>
    <p:sldId id="625" r:id="rId19"/>
    <p:sldId id="631" r:id="rId20"/>
    <p:sldId id="610" r:id="rId21"/>
    <p:sldId id="622" r:id="rId22"/>
    <p:sldId id="626" r:id="rId23"/>
    <p:sldId id="627" r:id="rId24"/>
    <p:sldId id="623" r:id="rId25"/>
    <p:sldId id="611" r:id="rId26"/>
    <p:sldId id="624" r:id="rId27"/>
    <p:sldId id="606" r:id="rId28"/>
    <p:sldId id="614" r:id="rId29"/>
    <p:sldId id="628" r:id="rId30"/>
    <p:sldId id="629" r:id="rId31"/>
    <p:sldId id="630" r:id="rId32"/>
    <p:sldId id="601" r:id="rId33"/>
    <p:sldId id="599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 Belousov" initials="IB" lastIdx="1" clrIdx="0">
    <p:extLst>
      <p:ext uri="{19B8F6BF-5375-455C-9EA6-DF929625EA0E}">
        <p15:presenceInfo xmlns:p15="http://schemas.microsoft.com/office/powerpoint/2012/main" userId="e3435f7040d4ec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99" d="100"/>
          <a:sy n="99" d="100"/>
        </p:scale>
        <p:origin x="23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101579-D778-44C3-B5CB-69E187C71FCC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3332437-5529-4A23-AC78-F3E065938714}">
      <dgm:prSet phldrT="[Текст]" custT="1"/>
      <dgm:spPr/>
      <dgm:t>
        <a:bodyPr/>
        <a:lstStyle/>
        <a:p>
          <a:r>
            <a:rPr lang="en-US" sz="2800" dirty="0"/>
            <a:t>LLM host</a:t>
          </a:r>
          <a:endParaRPr lang="ru-RU" sz="2800" dirty="0"/>
        </a:p>
      </dgm:t>
    </dgm:pt>
    <dgm:pt modelId="{B2684870-F6A1-48D4-ADDD-B5662095857C}" type="parTrans" cxnId="{04493664-A8AF-424D-A858-44DB438CDBC2}">
      <dgm:prSet/>
      <dgm:spPr/>
      <dgm:t>
        <a:bodyPr/>
        <a:lstStyle/>
        <a:p>
          <a:endParaRPr lang="ru-RU"/>
        </a:p>
      </dgm:t>
    </dgm:pt>
    <dgm:pt modelId="{426D86FC-BAD4-4A69-9432-950B7485DA20}" type="sibTrans" cxnId="{04493664-A8AF-424D-A858-44DB438CDBC2}">
      <dgm:prSet/>
      <dgm:spPr/>
      <dgm:t>
        <a:bodyPr/>
        <a:lstStyle/>
        <a:p>
          <a:endParaRPr lang="ru-RU"/>
        </a:p>
      </dgm:t>
    </dgm:pt>
    <dgm:pt modelId="{B57918B6-EBEF-4143-AC8C-152D1FBC5686}">
      <dgm:prSet phldrT="[Текст]" custT="1"/>
      <dgm:spPr/>
      <dgm:t>
        <a:bodyPr/>
        <a:lstStyle/>
        <a:p>
          <a:r>
            <a:rPr lang="ru-RU" sz="2000" dirty="0"/>
            <a:t>ОС </a:t>
          </a:r>
          <a:r>
            <a:rPr lang="en-US" sz="2000" dirty="0"/>
            <a:t>Ubuntu 24.04</a:t>
          </a:r>
          <a:endParaRPr lang="ru-RU" sz="2000" dirty="0"/>
        </a:p>
      </dgm:t>
    </dgm:pt>
    <dgm:pt modelId="{7936D16E-98FE-460F-895B-5675FE46FD6F}" type="parTrans" cxnId="{3ABB8381-E974-4CFC-884D-1AE1EA9AAD23}">
      <dgm:prSet/>
      <dgm:spPr/>
      <dgm:t>
        <a:bodyPr/>
        <a:lstStyle/>
        <a:p>
          <a:endParaRPr lang="ru-RU"/>
        </a:p>
      </dgm:t>
    </dgm:pt>
    <dgm:pt modelId="{FFF81DF5-5F68-48AB-9F03-1D27A7FE826A}" type="sibTrans" cxnId="{3ABB8381-E974-4CFC-884D-1AE1EA9AAD23}">
      <dgm:prSet/>
      <dgm:spPr/>
      <dgm:t>
        <a:bodyPr/>
        <a:lstStyle/>
        <a:p>
          <a:endParaRPr lang="ru-RU"/>
        </a:p>
      </dgm:t>
    </dgm:pt>
    <dgm:pt modelId="{3E4CC557-8A82-407F-A042-91BB53C7DF75}">
      <dgm:prSet phldrT="[Текст]" custT="1"/>
      <dgm:spPr/>
      <dgm:t>
        <a:bodyPr/>
        <a:lstStyle/>
        <a:p>
          <a:r>
            <a:rPr lang="en-US" sz="2000" dirty="0" err="1"/>
            <a:t>ollama</a:t>
          </a:r>
          <a:r>
            <a:rPr lang="en-US" sz="2000" dirty="0"/>
            <a:t>/</a:t>
          </a:r>
          <a:r>
            <a:rPr lang="en-US" sz="2000" dirty="0" err="1"/>
            <a:t>vllm</a:t>
          </a:r>
          <a:endParaRPr lang="en-US" sz="2000" dirty="0"/>
        </a:p>
        <a:p>
          <a:r>
            <a:rPr lang="en-US" sz="2000" dirty="0" err="1"/>
            <a:t>langchain</a:t>
          </a:r>
          <a:endParaRPr lang="ru-RU" sz="2000" dirty="0"/>
        </a:p>
      </dgm:t>
    </dgm:pt>
    <dgm:pt modelId="{72CF5158-4828-484C-94DA-4F530C8DFE69}" type="parTrans" cxnId="{1B0FADB4-F0DD-4421-A1E6-B71CBBF5865E}">
      <dgm:prSet/>
      <dgm:spPr/>
      <dgm:t>
        <a:bodyPr/>
        <a:lstStyle/>
        <a:p>
          <a:endParaRPr lang="ru-RU"/>
        </a:p>
      </dgm:t>
    </dgm:pt>
    <dgm:pt modelId="{67BF762A-1E4F-490B-B9B0-F794C3CF3E3E}" type="sibTrans" cxnId="{1B0FADB4-F0DD-4421-A1E6-B71CBBF5865E}">
      <dgm:prSet/>
      <dgm:spPr/>
      <dgm:t>
        <a:bodyPr/>
        <a:lstStyle/>
        <a:p>
          <a:endParaRPr lang="ru-RU"/>
        </a:p>
      </dgm:t>
    </dgm:pt>
    <dgm:pt modelId="{FB9AA773-30A2-4C61-BA98-0BF76A5ACF7A}">
      <dgm:prSet phldrT="[Текст]" custT="1"/>
      <dgm:spPr/>
      <dgm:t>
        <a:bodyPr/>
        <a:lstStyle/>
        <a:p>
          <a:r>
            <a:rPr lang="en-US" sz="2800" dirty="0"/>
            <a:t>Red Team host</a:t>
          </a:r>
          <a:endParaRPr lang="ru-RU" sz="2800" dirty="0"/>
        </a:p>
      </dgm:t>
    </dgm:pt>
    <dgm:pt modelId="{65759AB2-3CD8-427B-98C0-3284FE9D42BC}" type="parTrans" cxnId="{448AA03D-6A83-4079-865A-E6AFC3D11F66}">
      <dgm:prSet/>
      <dgm:spPr/>
      <dgm:t>
        <a:bodyPr/>
        <a:lstStyle/>
        <a:p>
          <a:endParaRPr lang="ru-RU"/>
        </a:p>
      </dgm:t>
    </dgm:pt>
    <dgm:pt modelId="{0B1E383C-F29E-44F5-8A88-8361FC5B863F}" type="sibTrans" cxnId="{448AA03D-6A83-4079-865A-E6AFC3D11F66}">
      <dgm:prSet/>
      <dgm:spPr/>
      <dgm:t>
        <a:bodyPr/>
        <a:lstStyle/>
        <a:p>
          <a:endParaRPr lang="ru-RU"/>
        </a:p>
      </dgm:t>
    </dgm:pt>
    <dgm:pt modelId="{677A55B8-ABE1-4257-8EC6-851665DE28A7}">
      <dgm:prSet phldrT="[Текст]" custT="1"/>
      <dgm:spPr/>
      <dgm:t>
        <a:bodyPr/>
        <a:lstStyle/>
        <a:p>
          <a:r>
            <a:rPr lang="ru-RU" sz="2000" dirty="0"/>
            <a:t>ОС </a:t>
          </a:r>
          <a:r>
            <a:rPr lang="en-US" sz="2000" dirty="0"/>
            <a:t>Kali</a:t>
          </a:r>
          <a:endParaRPr lang="ru-RU" sz="2000" dirty="0"/>
        </a:p>
      </dgm:t>
    </dgm:pt>
    <dgm:pt modelId="{DD23BE5B-F909-44C3-8249-D6AC8A03C677}" type="parTrans" cxnId="{885CE641-C651-4FDE-8012-69FD315EC76E}">
      <dgm:prSet/>
      <dgm:spPr/>
      <dgm:t>
        <a:bodyPr/>
        <a:lstStyle/>
        <a:p>
          <a:endParaRPr lang="ru-RU"/>
        </a:p>
      </dgm:t>
    </dgm:pt>
    <dgm:pt modelId="{A6B6B66C-0841-4CFD-8B21-5C28270E497B}" type="sibTrans" cxnId="{885CE641-C651-4FDE-8012-69FD315EC76E}">
      <dgm:prSet/>
      <dgm:spPr/>
      <dgm:t>
        <a:bodyPr/>
        <a:lstStyle/>
        <a:p>
          <a:endParaRPr lang="ru-RU"/>
        </a:p>
      </dgm:t>
    </dgm:pt>
    <dgm:pt modelId="{03A03035-C9A1-440B-A3E0-48B51ABFBDB4}">
      <dgm:prSet phldrT="[Текст]" custT="1"/>
      <dgm:spPr/>
      <dgm:t>
        <a:bodyPr/>
        <a:lstStyle/>
        <a:p>
          <a:r>
            <a:rPr lang="en-US" sz="2000" dirty="0" err="1"/>
            <a:t>nmap</a:t>
          </a:r>
          <a:r>
            <a:rPr lang="en-US" sz="2000" dirty="0"/>
            <a:t>/</a:t>
          </a:r>
          <a:r>
            <a:rPr lang="en-US" sz="2000" dirty="0" err="1"/>
            <a:t>metasploit</a:t>
          </a:r>
          <a:r>
            <a:rPr lang="en-US" sz="2000" dirty="0"/>
            <a:t>/</a:t>
          </a:r>
        </a:p>
        <a:p>
          <a:r>
            <a:rPr lang="en-US" sz="2000" dirty="0" err="1"/>
            <a:t>garak</a:t>
          </a:r>
          <a:r>
            <a:rPr lang="en-US" sz="2000" dirty="0"/>
            <a:t>/</a:t>
          </a:r>
          <a:r>
            <a:rPr lang="en-US" sz="2000" dirty="0" err="1"/>
            <a:t>hivetrace</a:t>
          </a:r>
          <a:r>
            <a:rPr lang="en-US" sz="2000" dirty="0"/>
            <a:t>/….</a:t>
          </a:r>
          <a:endParaRPr lang="ru-RU" sz="2000" dirty="0"/>
        </a:p>
      </dgm:t>
    </dgm:pt>
    <dgm:pt modelId="{1F11715E-323E-4340-9128-9C04E8FBB0F5}" type="parTrans" cxnId="{6DD6D3D8-42C4-4351-8724-0F4EC844CB78}">
      <dgm:prSet/>
      <dgm:spPr/>
      <dgm:t>
        <a:bodyPr/>
        <a:lstStyle/>
        <a:p>
          <a:endParaRPr lang="ru-RU"/>
        </a:p>
      </dgm:t>
    </dgm:pt>
    <dgm:pt modelId="{637EA4FA-0289-4C43-A6DE-5733D3BD983F}" type="sibTrans" cxnId="{6DD6D3D8-42C4-4351-8724-0F4EC844CB78}">
      <dgm:prSet/>
      <dgm:spPr/>
      <dgm:t>
        <a:bodyPr/>
        <a:lstStyle/>
        <a:p>
          <a:endParaRPr lang="ru-RU"/>
        </a:p>
      </dgm:t>
    </dgm:pt>
    <dgm:pt modelId="{19195AD0-358D-4EED-A9E9-B1B570881269}" type="pres">
      <dgm:prSet presAssocID="{EB101579-D778-44C3-B5CB-69E187C71FCC}" presName="theList" presStyleCnt="0">
        <dgm:presLayoutVars>
          <dgm:dir/>
          <dgm:animLvl val="lvl"/>
          <dgm:resizeHandles val="exact"/>
        </dgm:presLayoutVars>
      </dgm:prSet>
      <dgm:spPr/>
    </dgm:pt>
    <dgm:pt modelId="{4FF1E7B3-9677-4D2D-830F-F2B080ABD9F7}" type="pres">
      <dgm:prSet presAssocID="{13332437-5529-4A23-AC78-F3E065938714}" presName="compNode" presStyleCnt="0"/>
      <dgm:spPr/>
    </dgm:pt>
    <dgm:pt modelId="{41A489BD-D5E2-401B-9F67-3B8D81A191D2}" type="pres">
      <dgm:prSet presAssocID="{13332437-5529-4A23-AC78-F3E065938714}" presName="aNode" presStyleLbl="bgShp" presStyleIdx="0" presStyleCnt="2"/>
      <dgm:spPr/>
    </dgm:pt>
    <dgm:pt modelId="{271F23EF-98EB-47EA-BB9A-E56F1C84C704}" type="pres">
      <dgm:prSet presAssocID="{13332437-5529-4A23-AC78-F3E065938714}" presName="textNode" presStyleLbl="bgShp" presStyleIdx="0" presStyleCnt="2"/>
      <dgm:spPr/>
    </dgm:pt>
    <dgm:pt modelId="{CA96922C-4DA8-49E6-BB69-5915537B48E5}" type="pres">
      <dgm:prSet presAssocID="{13332437-5529-4A23-AC78-F3E065938714}" presName="compChildNode" presStyleCnt="0"/>
      <dgm:spPr/>
    </dgm:pt>
    <dgm:pt modelId="{D91F37A5-CC42-4BC4-8284-2BB858637615}" type="pres">
      <dgm:prSet presAssocID="{13332437-5529-4A23-AC78-F3E065938714}" presName="theInnerList" presStyleCnt="0"/>
      <dgm:spPr/>
    </dgm:pt>
    <dgm:pt modelId="{E7F947F4-62C3-4D45-B041-93DC4883C5B9}" type="pres">
      <dgm:prSet presAssocID="{B57918B6-EBEF-4143-AC8C-152D1FBC5686}" presName="childNode" presStyleLbl="node1" presStyleIdx="0" presStyleCnt="4">
        <dgm:presLayoutVars>
          <dgm:bulletEnabled val="1"/>
        </dgm:presLayoutVars>
      </dgm:prSet>
      <dgm:spPr/>
    </dgm:pt>
    <dgm:pt modelId="{C788F096-8DB0-41FA-B099-DCBB30E96DE1}" type="pres">
      <dgm:prSet presAssocID="{B57918B6-EBEF-4143-AC8C-152D1FBC5686}" presName="aSpace2" presStyleCnt="0"/>
      <dgm:spPr/>
    </dgm:pt>
    <dgm:pt modelId="{93784EC7-364F-44FE-A25F-5BA1E0CE2CF7}" type="pres">
      <dgm:prSet presAssocID="{3E4CC557-8A82-407F-A042-91BB53C7DF75}" presName="childNode" presStyleLbl="node1" presStyleIdx="1" presStyleCnt="4">
        <dgm:presLayoutVars>
          <dgm:bulletEnabled val="1"/>
        </dgm:presLayoutVars>
      </dgm:prSet>
      <dgm:spPr/>
    </dgm:pt>
    <dgm:pt modelId="{CA21BC85-C72C-47CB-862E-D43B5AEADE78}" type="pres">
      <dgm:prSet presAssocID="{13332437-5529-4A23-AC78-F3E065938714}" presName="aSpace" presStyleCnt="0"/>
      <dgm:spPr/>
    </dgm:pt>
    <dgm:pt modelId="{39613179-EC0B-4F63-9AFC-94583017580B}" type="pres">
      <dgm:prSet presAssocID="{FB9AA773-30A2-4C61-BA98-0BF76A5ACF7A}" presName="compNode" presStyleCnt="0"/>
      <dgm:spPr/>
    </dgm:pt>
    <dgm:pt modelId="{82560E12-2C58-492A-A61B-C26D4AB75B7A}" type="pres">
      <dgm:prSet presAssocID="{FB9AA773-30A2-4C61-BA98-0BF76A5ACF7A}" presName="aNode" presStyleLbl="bgShp" presStyleIdx="1" presStyleCnt="2"/>
      <dgm:spPr/>
    </dgm:pt>
    <dgm:pt modelId="{0E501695-62D7-40E8-8588-2048C6106CBC}" type="pres">
      <dgm:prSet presAssocID="{FB9AA773-30A2-4C61-BA98-0BF76A5ACF7A}" presName="textNode" presStyleLbl="bgShp" presStyleIdx="1" presStyleCnt="2"/>
      <dgm:spPr/>
    </dgm:pt>
    <dgm:pt modelId="{865E036E-3EF5-4AAE-BC46-0843AC56058C}" type="pres">
      <dgm:prSet presAssocID="{FB9AA773-30A2-4C61-BA98-0BF76A5ACF7A}" presName="compChildNode" presStyleCnt="0"/>
      <dgm:spPr/>
    </dgm:pt>
    <dgm:pt modelId="{BAC89C2B-945D-4DD0-B70C-4448D8D2CE38}" type="pres">
      <dgm:prSet presAssocID="{FB9AA773-30A2-4C61-BA98-0BF76A5ACF7A}" presName="theInnerList" presStyleCnt="0"/>
      <dgm:spPr/>
    </dgm:pt>
    <dgm:pt modelId="{5AA12CEA-0924-41E5-A49D-98A826AB12C0}" type="pres">
      <dgm:prSet presAssocID="{677A55B8-ABE1-4257-8EC6-851665DE28A7}" presName="childNode" presStyleLbl="node1" presStyleIdx="2" presStyleCnt="4">
        <dgm:presLayoutVars>
          <dgm:bulletEnabled val="1"/>
        </dgm:presLayoutVars>
      </dgm:prSet>
      <dgm:spPr/>
    </dgm:pt>
    <dgm:pt modelId="{C92F8E95-03E1-4AEB-BFB1-CCCD58F07255}" type="pres">
      <dgm:prSet presAssocID="{677A55B8-ABE1-4257-8EC6-851665DE28A7}" presName="aSpace2" presStyleCnt="0"/>
      <dgm:spPr/>
    </dgm:pt>
    <dgm:pt modelId="{892DCB6D-8496-4811-8DA5-CDD395CD0A15}" type="pres">
      <dgm:prSet presAssocID="{03A03035-C9A1-440B-A3E0-48B51ABFBDB4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765FC506-0D56-420A-AAD0-22211277081E}" type="presOf" srcId="{EB101579-D778-44C3-B5CB-69E187C71FCC}" destId="{19195AD0-358D-4EED-A9E9-B1B570881269}" srcOrd="0" destOrd="0" presId="urn:microsoft.com/office/officeart/2005/8/layout/lProcess2"/>
    <dgm:cxn modelId="{768B4418-F855-4CD4-9939-F97F28ECB0EB}" type="presOf" srcId="{13332437-5529-4A23-AC78-F3E065938714}" destId="{41A489BD-D5E2-401B-9F67-3B8D81A191D2}" srcOrd="0" destOrd="0" presId="urn:microsoft.com/office/officeart/2005/8/layout/lProcess2"/>
    <dgm:cxn modelId="{3494282C-1743-40C5-93ED-4B1A90EF55FD}" type="presOf" srcId="{FB9AA773-30A2-4C61-BA98-0BF76A5ACF7A}" destId="{82560E12-2C58-492A-A61B-C26D4AB75B7A}" srcOrd="0" destOrd="0" presId="urn:microsoft.com/office/officeart/2005/8/layout/lProcess2"/>
    <dgm:cxn modelId="{448AA03D-6A83-4079-865A-E6AFC3D11F66}" srcId="{EB101579-D778-44C3-B5CB-69E187C71FCC}" destId="{FB9AA773-30A2-4C61-BA98-0BF76A5ACF7A}" srcOrd="1" destOrd="0" parTransId="{65759AB2-3CD8-427B-98C0-3284FE9D42BC}" sibTransId="{0B1E383C-F29E-44F5-8A88-8361FC5B863F}"/>
    <dgm:cxn modelId="{F714655D-7A5B-42B9-86CE-746078D4D946}" type="presOf" srcId="{FB9AA773-30A2-4C61-BA98-0BF76A5ACF7A}" destId="{0E501695-62D7-40E8-8588-2048C6106CBC}" srcOrd="1" destOrd="0" presId="urn:microsoft.com/office/officeart/2005/8/layout/lProcess2"/>
    <dgm:cxn modelId="{885CE641-C651-4FDE-8012-69FD315EC76E}" srcId="{FB9AA773-30A2-4C61-BA98-0BF76A5ACF7A}" destId="{677A55B8-ABE1-4257-8EC6-851665DE28A7}" srcOrd="0" destOrd="0" parTransId="{DD23BE5B-F909-44C3-8249-D6AC8A03C677}" sibTransId="{A6B6B66C-0841-4CFD-8B21-5C28270E497B}"/>
    <dgm:cxn modelId="{A2C1AF42-FD85-4421-A4EB-6474258D29A2}" type="presOf" srcId="{13332437-5529-4A23-AC78-F3E065938714}" destId="{271F23EF-98EB-47EA-BB9A-E56F1C84C704}" srcOrd="1" destOrd="0" presId="urn:microsoft.com/office/officeart/2005/8/layout/lProcess2"/>
    <dgm:cxn modelId="{04493664-A8AF-424D-A858-44DB438CDBC2}" srcId="{EB101579-D778-44C3-B5CB-69E187C71FCC}" destId="{13332437-5529-4A23-AC78-F3E065938714}" srcOrd="0" destOrd="0" parTransId="{B2684870-F6A1-48D4-ADDD-B5662095857C}" sibTransId="{426D86FC-BAD4-4A69-9432-950B7485DA20}"/>
    <dgm:cxn modelId="{3ABB8381-E974-4CFC-884D-1AE1EA9AAD23}" srcId="{13332437-5529-4A23-AC78-F3E065938714}" destId="{B57918B6-EBEF-4143-AC8C-152D1FBC5686}" srcOrd="0" destOrd="0" parTransId="{7936D16E-98FE-460F-895B-5675FE46FD6F}" sibTransId="{FFF81DF5-5F68-48AB-9F03-1D27A7FE826A}"/>
    <dgm:cxn modelId="{F34C44B3-1929-4C43-AD5F-153C9BF7CB7B}" type="presOf" srcId="{03A03035-C9A1-440B-A3E0-48B51ABFBDB4}" destId="{892DCB6D-8496-4811-8DA5-CDD395CD0A15}" srcOrd="0" destOrd="0" presId="urn:microsoft.com/office/officeart/2005/8/layout/lProcess2"/>
    <dgm:cxn modelId="{1B0FADB4-F0DD-4421-A1E6-B71CBBF5865E}" srcId="{13332437-5529-4A23-AC78-F3E065938714}" destId="{3E4CC557-8A82-407F-A042-91BB53C7DF75}" srcOrd="1" destOrd="0" parTransId="{72CF5158-4828-484C-94DA-4F530C8DFE69}" sibTransId="{67BF762A-1E4F-490B-B9B0-F794C3CF3E3E}"/>
    <dgm:cxn modelId="{523390BD-1F3D-4B9C-AD2A-190F384B1B74}" type="presOf" srcId="{677A55B8-ABE1-4257-8EC6-851665DE28A7}" destId="{5AA12CEA-0924-41E5-A49D-98A826AB12C0}" srcOrd="0" destOrd="0" presId="urn:microsoft.com/office/officeart/2005/8/layout/lProcess2"/>
    <dgm:cxn modelId="{0E6DCFCD-97C1-4F99-8A3C-9D95108D41AF}" type="presOf" srcId="{B57918B6-EBEF-4143-AC8C-152D1FBC5686}" destId="{E7F947F4-62C3-4D45-B041-93DC4883C5B9}" srcOrd="0" destOrd="0" presId="urn:microsoft.com/office/officeart/2005/8/layout/lProcess2"/>
    <dgm:cxn modelId="{6DD6D3D8-42C4-4351-8724-0F4EC844CB78}" srcId="{FB9AA773-30A2-4C61-BA98-0BF76A5ACF7A}" destId="{03A03035-C9A1-440B-A3E0-48B51ABFBDB4}" srcOrd="1" destOrd="0" parTransId="{1F11715E-323E-4340-9128-9C04E8FBB0F5}" sibTransId="{637EA4FA-0289-4C43-A6DE-5733D3BD983F}"/>
    <dgm:cxn modelId="{037139E6-8891-472E-8534-E91863259B2D}" type="presOf" srcId="{3E4CC557-8A82-407F-A042-91BB53C7DF75}" destId="{93784EC7-364F-44FE-A25F-5BA1E0CE2CF7}" srcOrd="0" destOrd="0" presId="urn:microsoft.com/office/officeart/2005/8/layout/lProcess2"/>
    <dgm:cxn modelId="{95E7817E-7740-4ABE-8619-218438A421F7}" type="presParOf" srcId="{19195AD0-358D-4EED-A9E9-B1B570881269}" destId="{4FF1E7B3-9677-4D2D-830F-F2B080ABD9F7}" srcOrd="0" destOrd="0" presId="urn:microsoft.com/office/officeart/2005/8/layout/lProcess2"/>
    <dgm:cxn modelId="{031893D1-079E-4375-8C8B-1A6C17971973}" type="presParOf" srcId="{4FF1E7B3-9677-4D2D-830F-F2B080ABD9F7}" destId="{41A489BD-D5E2-401B-9F67-3B8D81A191D2}" srcOrd="0" destOrd="0" presId="urn:microsoft.com/office/officeart/2005/8/layout/lProcess2"/>
    <dgm:cxn modelId="{D71E459D-5940-4B89-B908-901DACABF931}" type="presParOf" srcId="{4FF1E7B3-9677-4D2D-830F-F2B080ABD9F7}" destId="{271F23EF-98EB-47EA-BB9A-E56F1C84C704}" srcOrd="1" destOrd="0" presId="urn:microsoft.com/office/officeart/2005/8/layout/lProcess2"/>
    <dgm:cxn modelId="{C2CBA20B-4328-4CE4-A04E-0E3F9F9A419B}" type="presParOf" srcId="{4FF1E7B3-9677-4D2D-830F-F2B080ABD9F7}" destId="{CA96922C-4DA8-49E6-BB69-5915537B48E5}" srcOrd="2" destOrd="0" presId="urn:microsoft.com/office/officeart/2005/8/layout/lProcess2"/>
    <dgm:cxn modelId="{AC5ACB3F-FEDE-4B70-AEBA-ED6DC689ABF8}" type="presParOf" srcId="{CA96922C-4DA8-49E6-BB69-5915537B48E5}" destId="{D91F37A5-CC42-4BC4-8284-2BB858637615}" srcOrd="0" destOrd="0" presId="urn:microsoft.com/office/officeart/2005/8/layout/lProcess2"/>
    <dgm:cxn modelId="{E54F70AE-A56C-4FA5-B6AF-9DCC1249FC6B}" type="presParOf" srcId="{D91F37A5-CC42-4BC4-8284-2BB858637615}" destId="{E7F947F4-62C3-4D45-B041-93DC4883C5B9}" srcOrd="0" destOrd="0" presId="urn:microsoft.com/office/officeart/2005/8/layout/lProcess2"/>
    <dgm:cxn modelId="{6EB525A4-F2A7-44A3-BB2B-69D9E9C6B00C}" type="presParOf" srcId="{D91F37A5-CC42-4BC4-8284-2BB858637615}" destId="{C788F096-8DB0-41FA-B099-DCBB30E96DE1}" srcOrd="1" destOrd="0" presId="urn:microsoft.com/office/officeart/2005/8/layout/lProcess2"/>
    <dgm:cxn modelId="{88D2813D-1630-40FA-8DD3-AC9F0FD20156}" type="presParOf" srcId="{D91F37A5-CC42-4BC4-8284-2BB858637615}" destId="{93784EC7-364F-44FE-A25F-5BA1E0CE2CF7}" srcOrd="2" destOrd="0" presId="urn:microsoft.com/office/officeart/2005/8/layout/lProcess2"/>
    <dgm:cxn modelId="{F00B34F3-B5F1-4E0A-AC3B-BF9E28E7C955}" type="presParOf" srcId="{19195AD0-358D-4EED-A9E9-B1B570881269}" destId="{CA21BC85-C72C-47CB-862E-D43B5AEADE78}" srcOrd="1" destOrd="0" presId="urn:microsoft.com/office/officeart/2005/8/layout/lProcess2"/>
    <dgm:cxn modelId="{F3ADE3AD-46CA-4439-95D1-1A59F90D6DE7}" type="presParOf" srcId="{19195AD0-358D-4EED-A9E9-B1B570881269}" destId="{39613179-EC0B-4F63-9AFC-94583017580B}" srcOrd="2" destOrd="0" presId="urn:microsoft.com/office/officeart/2005/8/layout/lProcess2"/>
    <dgm:cxn modelId="{566698E5-C7CE-40F2-BFDF-55FBA41731A4}" type="presParOf" srcId="{39613179-EC0B-4F63-9AFC-94583017580B}" destId="{82560E12-2C58-492A-A61B-C26D4AB75B7A}" srcOrd="0" destOrd="0" presId="urn:microsoft.com/office/officeart/2005/8/layout/lProcess2"/>
    <dgm:cxn modelId="{47AE519C-6506-49F0-B316-FEE0276AB5F6}" type="presParOf" srcId="{39613179-EC0B-4F63-9AFC-94583017580B}" destId="{0E501695-62D7-40E8-8588-2048C6106CBC}" srcOrd="1" destOrd="0" presId="urn:microsoft.com/office/officeart/2005/8/layout/lProcess2"/>
    <dgm:cxn modelId="{5ECF0B32-A12E-4A1B-9C02-87AB6FE3B160}" type="presParOf" srcId="{39613179-EC0B-4F63-9AFC-94583017580B}" destId="{865E036E-3EF5-4AAE-BC46-0843AC56058C}" srcOrd="2" destOrd="0" presId="urn:microsoft.com/office/officeart/2005/8/layout/lProcess2"/>
    <dgm:cxn modelId="{09B49A3F-F4E2-47A2-8EA9-7FD6A25EE2E8}" type="presParOf" srcId="{865E036E-3EF5-4AAE-BC46-0843AC56058C}" destId="{BAC89C2B-945D-4DD0-B70C-4448D8D2CE38}" srcOrd="0" destOrd="0" presId="urn:microsoft.com/office/officeart/2005/8/layout/lProcess2"/>
    <dgm:cxn modelId="{A904DE2F-353B-4680-8944-F206C2BF3F1E}" type="presParOf" srcId="{BAC89C2B-945D-4DD0-B70C-4448D8D2CE38}" destId="{5AA12CEA-0924-41E5-A49D-98A826AB12C0}" srcOrd="0" destOrd="0" presId="urn:microsoft.com/office/officeart/2005/8/layout/lProcess2"/>
    <dgm:cxn modelId="{61B186A0-CF20-4A7E-B18F-2D42383DDAA4}" type="presParOf" srcId="{BAC89C2B-945D-4DD0-B70C-4448D8D2CE38}" destId="{C92F8E95-03E1-4AEB-BFB1-CCCD58F07255}" srcOrd="1" destOrd="0" presId="urn:microsoft.com/office/officeart/2005/8/layout/lProcess2"/>
    <dgm:cxn modelId="{A3060215-9954-4769-B688-04AA4C77BA23}" type="presParOf" srcId="{BAC89C2B-945D-4DD0-B70C-4448D8D2CE38}" destId="{892DCB6D-8496-4811-8DA5-CDD395CD0A15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489BD-D5E2-401B-9F67-3B8D81A191D2}">
      <dsp:nvSpPr>
        <dsp:cNvPr id="0" name=""/>
        <dsp:cNvSpPr/>
      </dsp:nvSpPr>
      <dsp:spPr>
        <a:xfrm>
          <a:off x="2966" y="0"/>
          <a:ext cx="2853562" cy="37787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LLM host</a:t>
          </a:r>
          <a:endParaRPr lang="ru-RU" sz="2800" kern="1200" dirty="0"/>
        </a:p>
      </dsp:txBody>
      <dsp:txXfrm>
        <a:off x="2966" y="0"/>
        <a:ext cx="2853562" cy="1133635"/>
      </dsp:txXfrm>
    </dsp:sp>
    <dsp:sp modelId="{E7F947F4-62C3-4D45-B041-93DC4883C5B9}">
      <dsp:nvSpPr>
        <dsp:cNvPr id="0" name=""/>
        <dsp:cNvSpPr/>
      </dsp:nvSpPr>
      <dsp:spPr>
        <a:xfrm>
          <a:off x="288322" y="1134742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ОС </a:t>
          </a:r>
          <a:r>
            <a:rPr lang="en-US" sz="2000" kern="1200" dirty="0"/>
            <a:t>Ubuntu 24.04</a:t>
          </a:r>
          <a:endParaRPr lang="ru-RU" sz="2000" kern="1200" dirty="0"/>
        </a:p>
      </dsp:txBody>
      <dsp:txXfrm>
        <a:off x="321693" y="1168113"/>
        <a:ext cx="2216107" cy="1072613"/>
      </dsp:txXfrm>
    </dsp:sp>
    <dsp:sp modelId="{93784EC7-364F-44FE-A25F-5BA1E0CE2CF7}">
      <dsp:nvSpPr>
        <dsp:cNvPr id="0" name=""/>
        <dsp:cNvSpPr/>
      </dsp:nvSpPr>
      <dsp:spPr>
        <a:xfrm>
          <a:off x="288322" y="2449383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ollama</a:t>
          </a:r>
          <a:r>
            <a:rPr lang="en-US" sz="2000" kern="1200" dirty="0"/>
            <a:t>/</a:t>
          </a:r>
          <a:r>
            <a:rPr lang="en-US" sz="2000" kern="1200" dirty="0" err="1"/>
            <a:t>vllm</a:t>
          </a: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langchain</a:t>
          </a:r>
          <a:endParaRPr lang="ru-RU" sz="2000" kern="1200" dirty="0"/>
        </a:p>
      </dsp:txBody>
      <dsp:txXfrm>
        <a:off x="321693" y="2482754"/>
        <a:ext cx="2216107" cy="1072613"/>
      </dsp:txXfrm>
    </dsp:sp>
    <dsp:sp modelId="{82560E12-2C58-492A-A61B-C26D4AB75B7A}">
      <dsp:nvSpPr>
        <dsp:cNvPr id="0" name=""/>
        <dsp:cNvSpPr/>
      </dsp:nvSpPr>
      <dsp:spPr>
        <a:xfrm>
          <a:off x="3070546" y="0"/>
          <a:ext cx="2853562" cy="37787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Red Team host</a:t>
          </a:r>
          <a:endParaRPr lang="ru-RU" sz="2800" kern="1200" dirty="0"/>
        </a:p>
      </dsp:txBody>
      <dsp:txXfrm>
        <a:off x="3070546" y="0"/>
        <a:ext cx="2853562" cy="1133635"/>
      </dsp:txXfrm>
    </dsp:sp>
    <dsp:sp modelId="{5AA12CEA-0924-41E5-A49D-98A826AB12C0}">
      <dsp:nvSpPr>
        <dsp:cNvPr id="0" name=""/>
        <dsp:cNvSpPr/>
      </dsp:nvSpPr>
      <dsp:spPr>
        <a:xfrm>
          <a:off x="3355902" y="1134742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ОС </a:t>
          </a:r>
          <a:r>
            <a:rPr lang="en-US" sz="2000" kern="1200" dirty="0"/>
            <a:t>Kali</a:t>
          </a:r>
          <a:endParaRPr lang="ru-RU" sz="2000" kern="1200" dirty="0"/>
        </a:p>
      </dsp:txBody>
      <dsp:txXfrm>
        <a:off x="3389273" y="1168113"/>
        <a:ext cx="2216107" cy="1072613"/>
      </dsp:txXfrm>
    </dsp:sp>
    <dsp:sp modelId="{892DCB6D-8496-4811-8DA5-CDD395CD0A15}">
      <dsp:nvSpPr>
        <dsp:cNvPr id="0" name=""/>
        <dsp:cNvSpPr/>
      </dsp:nvSpPr>
      <dsp:spPr>
        <a:xfrm>
          <a:off x="3355902" y="2449383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nmap</a:t>
          </a:r>
          <a:r>
            <a:rPr lang="en-US" sz="2000" kern="1200" dirty="0"/>
            <a:t>/</a:t>
          </a:r>
          <a:r>
            <a:rPr lang="en-US" sz="2000" kern="1200" dirty="0" err="1"/>
            <a:t>metasploit</a:t>
          </a:r>
          <a:r>
            <a:rPr lang="en-US" sz="2000" kern="1200" dirty="0"/>
            <a:t>/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garak</a:t>
          </a:r>
          <a:r>
            <a:rPr lang="en-US" sz="2000" kern="1200" dirty="0"/>
            <a:t>/</a:t>
          </a:r>
          <a:r>
            <a:rPr lang="en-US" sz="2000" kern="1200" dirty="0" err="1"/>
            <a:t>hivetrace</a:t>
          </a:r>
          <a:r>
            <a:rPr lang="en-US" sz="2000" kern="1200" dirty="0"/>
            <a:t>/….</a:t>
          </a:r>
          <a:endParaRPr lang="ru-RU" sz="2000" kern="1200" dirty="0"/>
        </a:p>
      </dsp:txBody>
      <dsp:txXfrm>
        <a:off x="3389273" y="2482754"/>
        <a:ext cx="2216107" cy="1072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93C39-318F-4D96-A6F0-B4E3B993BBA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B2C9D-9DD0-4D6F-9862-99329A18C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18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EFA40-A549-E14F-8068-AE42E4A36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4BA352-1D58-1046-A4BC-BACACC967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1B708-F4D6-3B4F-854F-26E96AA0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057419-EAD8-9948-89BC-050F67A9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A13CF2-D93E-5645-9B5B-AFFE6C89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40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BF156-59BF-3F45-B9DA-792F650B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1227E-21F5-5546-9201-E26BE9C09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67A607-399B-A741-8CD2-00559A12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8EC3E9-DE81-1F46-9A1F-AA8D93A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FCFF3-D4F1-8A4D-8AB4-414EAE3A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C285E6A6-3C75-4F8A-B034-15448663B0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931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129C7-EE08-9240-9E84-252B634E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CBAB97-680E-0D4D-8FAA-14F863CF7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5F2EA-81FD-7C4E-BBA5-FB023972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30CBA3-7BF9-1A45-BFA9-1BB25344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2E170E-96B8-254E-B4B0-14123099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A88D66E2-5400-4C35-867F-1FC3FCB7CE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07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5B82A-2378-214B-B568-0C231CCB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94403-342C-544F-892B-B680AFDB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2758C2-D365-784E-B364-0A5F6C24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2C32B6-78D7-E049-8971-78E6CE10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CA01D1-30AB-5B4F-8564-EC33C870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CC5ED0-4746-4B4A-80F7-565F2F51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Picture 7" descr="ИРИТ-РТФ22">
            <a:extLst>
              <a:ext uri="{FF2B5EF4-FFF2-40B4-BE49-F238E27FC236}">
                <a16:creationId xmlns:a16="http://schemas.microsoft.com/office/drawing/2014/main" id="{36420BCD-C4EF-47A6-B449-2F8860F1B9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242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AD260-3008-FF48-945C-1D436CFD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BD148B-41AE-1B4A-9D02-3470C8E85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5A03C-65C7-714B-AAF7-D0F03068B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1D1CBA-375A-1B42-9A36-6C3EDAD0B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205052-997D-2C41-B24D-13F5C13B4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F9E2541-D4D7-4F45-9241-0DABD5C8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74ACBE-D5DB-CD40-96DD-97D2DD1E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29B182-245E-F741-9A85-D98C30D9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Picture 7" descr="ИРИТ-РТФ22">
            <a:extLst>
              <a:ext uri="{FF2B5EF4-FFF2-40B4-BE49-F238E27FC236}">
                <a16:creationId xmlns:a16="http://schemas.microsoft.com/office/drawing/2014/main" id="{A6F2DFB7-C703-4996-AAAD-00C9763CF6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41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1693C-0AF3-B041-89FE-D5B7CF91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F4388C-ADF4-C244-96FE-16F7903EF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ABFF21-A832-D440-A43B-58379E0F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E66A7F-C27C-1840-A210-6665A06C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Picture 7" descr="ИРИТ-РТФ22">
            <a:extLst>
              <a:ext uri="{FF2B5EF4-FFF2-40B4-BE49-F238E27FC236}">
                <a16:creationId xmlns:a16="http://schemas.microsoft.com/office/drawing/2014/main" id="{96DFBCDF-7FA3-4AC3-A674-9A7309522F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53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2325D4-5C86-514D-B32B-8CA73963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D26E6F9-0AC7-E642-9E87-39D066E6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8EB061-1208-CE4D-9C4E-3565E8F3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5" name="Picture 7" descr="ИРИТ-РТФ22">
            <a:extLst>
              <a:ext uri="{FF2B5EF4-FFF2-40B4-BE49-F238E27FC236}">
                <a16:creationId xmlns:a16="http://schemas.microsoft.com/office/drawing/2014/main" id="{580E42D7-AED4-4C86-9FFE-4503DAC266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674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F21FB-EEF2-F94F-80F3-C22AA646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BC938-96C6-704E-8477-095B1B99B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66F14C-2038-6241-9DE5-40A91E3EA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C0BE04-BC07-834E-8E9D-F3B986E8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164818-D3C5-074A-A00A-DAE59D1F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BE7893-DE42-084A-8642-690D2D60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Picture 7" descr="ИРИТ-РТФ22">
            <a:extLst>
              <a:ext uri="{FF2B5EF4-FFF2-40B4-BE49-F238E27FC236}">
                <a16:creationId xmlns:a16="http://schemas.microsoft.com/office/drawing/2014/main" id="{8112E969-236C-4E3A-B3F3-800549B3BB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336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19FE7-B4CB-9949-A9C0-FC01F6EE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5AE4AB-6209-7341-BF71-4A4D1B52C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42D17-C573-AD4A-BDDC-F2BF44474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19CA18-D82B-7D42-877D-2A5267AF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BBBD32-3D1B-0C44-AEB2-292D42DD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C50FA8-AE08-D246-8E53-0252C830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Picture 7" descr="ИРИТ-РТФ22">
            <a:extLst>
              <a:ext uri="{FF2B5EF4-FFF2-40B4-BE49-F238E27FC236}">
                <a16:creationId xmlns:a16="http://schemas.microsoft.com/office/drawing/2014/main" id="{7BE43B9E-BDFC-4F9B-93D2-C81318CF37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312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141CF-4474-F042-A9E5-B551E148A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2E0465-AC40-2948-B44F-71356D35C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DD310D-AF20-2841-ACE3-C4681ED9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D1D356-97D5-F64B-A26E-E5AC12CD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1EF8F7-D012-4C40-A3AC-2D60426A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BE64C0BD-31FD-4C36-B0F1-A6A2859E62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490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111D1C-E430-D84B-9668-FF901C999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AB5382-DB88-1440-AE6B-0292A235F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A87B4E-73A6-DF42-9025-E9A47CEB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F52456-A939-5941-8847-0AD0F1C9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21F19C-F6FD-A547-9B1B-BCD75200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70685650-A344-4757-9BB7-CBF85FA3C1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900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01794-1125-9547-8686-C82E75B2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276826-EAAE-9246-8E3A-7C51E61AE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D3F6AF-45AB-3841-B9EB-DCD999189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939F0-1E74-3248-9C54-35A9B2190B5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C6BD0-C81F-054E-A9C5-68240DDB1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45C646-FDF3-7440-A92D-667B5B87D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52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download/desktop" TargetMode="External"/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hyperlink" Target="https://ubuntu.com/download/deskto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ubuntu.com/ubuntu-for-developers/reference/availability/python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jupyter.org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blog/nvidia-open-gpu-kernel-modules-ubuntu-24-04" TargetMode="External"/><Relationship Id="rId2" Type="http://schemas.openxmlformats.org/officeDocument/2006/relationships/hyperlink" Target="https://docs.nvidia.com/datacenter/tesla/drivers/index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A6E11-FAEC-244C-B516-B6C94F823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080" y="2810322"/>
            <a:ext cx="9809229" cy="3222149"/>
          </a:xfrm>
        </p:spPr>
        <p:txBody>
          <a:bodyPr anchor="b">
            <a:normAutofit fontScale="90000"/>
          </a:bodyPr>
          <a:lstStyle/>
          <a:p>
            <a:b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53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Безопасность генеративного искусственного интеллекта</a:t>
            </a:r>
            <a:b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Практика №1«Подготовка инфраструктуры для практических работ»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BBA936-CE59-4E4B-A605-7CB54692F9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065" y="478811"/>
            <a:ext cx="3564663" cy="1542159"/>
          </a:xfrm>
          <a:prstGeom prst="rect">
            <a:avLst/>
          </a:prstGeom>
        </p:spPr>
      </p:pic>
      <p:pic>
        <p:nvPicPr>
          <p:cNvPr id="4" name="Picture 7" descr="ИРИТ-РТФ22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8734" y="478811"/>
            <a:ext cx="3085119" cy="168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387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7B804-A4A4-49BE-92BA-92B57488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  <a:r>
              <a:rPr lang="ru-RU" baseline="0" dirty="0"/>
              <a:t> занятия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4F498-F819-4A1A-8AA4-D3E6A1352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55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курсе «Безопасность генеративного ИИ» изучаются методы атаки и защиты машинного обучения (</a:t>
            </a:r>
            <a:r>
              <a:rPr lang="en-US" dirty="0"/>
              <a:t>ML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 искусственного интеллекта (</a:t>
            </a:r>
            <a:r>
              <a:rPr lang="en-US" dirty="0"/>
              <a:t>AI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в том числе больших языковых моделей (</a:t>
            </a:r>
            <a:r>
              <a:rPr lang="en-US" dirty="0"/>
              <a:t>LLM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а также информационных систем, имеющих в своем составе </a:t>
            </a:r>
            <a:r>
              <a:rPr lang="en-US" dirty="0"/>
              <a:t>ML (</a:t>
            </a:r>
            <a:r>
              <a:rPr lang="ru-RU" dirty="0"/>
              <a:t>классификаторы, регрессоры, кластеризация и т.п.</a:t>
            </a:r>
            <a:r>
              <a:rPr lang="en-US" dirty="0"/>
              <a:t>) </a:t>
            </a:r>
            <a:r>
              <a:rPr lang="ru-RU" dirty="0"/>
              <a:t>и </a:t>
            </a:r>
            <a:r>
              <a:rPr lang="en-US" dirty="0"/>
              <a:t>LLM </a:t>
            </a:r>
            <a:r>
              <a:rPr lang="ru-RU" dirty="0"/>
              <a:t>(чат-боты, цифровые ассистенты, ИИ агенты, программные роботы для автоматизации процессов и т.п.)</a:t>
            </a:r>
          </a:p>
          <a:p>
            <a:r>
              <a:rPr lang="ru-RU" dirty="0"/>
              <a:t>Для практического изучения инструментов в курсе понадобится умение работать с инфраструктурой, в том числе: запускать и настраивать виртуальные машины, устанавливать системное ПО (драйверы </a:t>
            </a:r>
            <a:r>
              <a:rPr lang="en-US" dirty="0"/>
              <a:t>GPU</a:t>
            </a:r>
            <a:r>
              <a:rPr lang="ru-RU" dirty="0"/>
              <a:t>, системные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ru-RU" dirty="0"/>
              <a:t>утилиты)</a:t>
            </a:r>
            <a:r>
              <a:rPr lang="en-US" dirty="0"/>
              <a:t> </a:t>
            </a:r>
            <a:r>
              <a:rPr lang="ru-RU" dirty="0"/>
              <a:t>и прикладное ПО (</a:t>
            </a:r>
            <a:r>
              <a:rPr lang="en-US" dirty="0"/>
              <a:t>python </a:t>
            </a:r>
            <a:r>
              <a:rPr lang="ru-RU" dirty="0"/>
              <a:t>библиотеки, </a:t>
            </a:r>
            <a:r>
              <a:rPr lang="en-US" dirty="0"/>
              <a:t>LLM </a:t>
            </a:r>
            <a:r>
              <a:rPr lang="ru-RU" dirty="0"/>
              <a:t>фреймворки, системы мониторинга)</a:t>
            </a:r>
          </a:p>
          <a:p>
            <a:r>
              <a:rPr lang="ru-RU" dirty="0"/>
              <a:t>В этом практическом занятии требуется развернуть основные элементы инфраструктуры, которые в дальнейшем будут использоваться на следующих этапах курса  </a:t>
            </a:r>
          </a:p>
        </p:txBody>
      </p:sp>
    </p:spTree>
    <p:extLst>
      <p:ext uri="{BB962C8B-B14F-4D97-AF65-F5344CB8AC3E}">
        <p14:creationId xmlns:p14="http://schemas.microsoft.com/office/powerpoint/2010/main" val="25555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74AE0-8E7B-49EF-BD80-61F6663E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Необходимые знания и 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56A46-CD7C-4089-BB3F-C02C09161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Указаны рекомендованные версии ПО, проверенные на работоспособность в феврале 2026.</a:t>
            </a:r>
          </a:p>
          <a:p>
            <a:pPr marL="0" indent="0">
              <a:buNone/>
            </a:pPr>
            <a:r>
              <a:rPr lang="ru-RU" b="1" dirty="0"/>
              <a:t>Знания</a:t>
            </a:r>
          </a:p>
          <a:p>
            <a:r>
              <a:rPr lang="ru-RU" dirty="0"/>
              <a:t>Администрирование и системные команды </a:t>
            </a:r>
            <a:r>
              <a:rPr lang="en-US" dirty="0" err="1"/>
              <a:t>linux</a:t>
            </a:r>
            <a:r>
              <a:rPr lang="ru-RU" dirty="0"/>
              <a:t>, умение устанавливать и настраивать пакеты ПО (</a:t>
            </a:r>
            <a:r>
              <a:rPr lang="en-US" dirty="0"/>
              <a:t>ubuntu 24.0</a:t>
            </a:r>
            <a:r>
              <a:rPr lang="ru-RU" dirty="0"/>
              <a:t>4</a:t>
            </a:r>
            <a:r>
              <a:rPr lang="en-US" dirty="0"/>
              <a:t>, kali 6.16.8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Программирование </a:t>
            </a:r>
            <a:r>
              <a:rPr lang="en-US" dirty="0"/>
              <a:t>python </a:t>
            </a:r>
            <a:r>
              <a:rPr lang="ru-RU" dirty="0"/>
              <a:t>на базовом уровне (3.1</a:t>
            </a:r>
            <a:r>
              <a:rPr lang="en-US" dirty="0"/>
              <a:t>0</a:t>
            </a:r>
            <a:r>
              <a:rPr lang="ru-RU" dirty="0"/>
              <a:t>+</a:t>
            </a:r>
            <a:r>
              <a:rPr lang="en-US" dirty="0"/>
              <a:t>, </a:t>
            </a:r>
            <a:r>
              <a:rPr lang="ru-RU" dirty="0"/>
              <a:t>в </a:t>
            </a:r>
            <a:r>
              <a:rPr lang="en-US" dirty="0"/>
              <a:t>Ubuntu 24.04 </a:t>
            </a:r>
            <a:r>
              <a:rPr lang="ru-RU" dirty="0"/>
              <a:t>предустановлен </a:t>
            </a:r>
            <a:r>
              <a:rPr lang="en-US" dirty="0"/>
              <a:t>python3.12</a:t>
            </a:r>
            <a:r>
              <a:rPr lang="ru-RU" dirty="0"/>
              <a:t>)</a:t>
            </a:r>
          </a:p>
          <a:p>
            <a:r>
              <a:rPr lang="ru-RU" dirty="0"/>
              <a:t>Работа с гипервизором</a:t>
            </a:r>
            <a:r>
              <a:rPr lang="en-US" dirty="0"/>
              <a:t> (</a:t>
            </a:r>
            <a:r>
              <a:rPr lang="en-US" dirty="0" err="1"/>
              <a:t>virtualbox</a:t>
            </a:r>
            <a:r>
              <a:rPr lang="en-US" dirty="0"/>
              <a:t> 7.0+), </a:t>
            </a:r>
            <a:r>
              <a:rPr lang="ru-RU" dirty="0"/>
              <a:t>либо применение облачного сервиса (</a:t>
            </a:r>
            <a:r>
              <a:rPr lang="en-US" dirty="0"/>
              <a:t>Yandex Cloud “Compute Cloud”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Умение создавать, настраивать и использовать виртуальные машины</a:t>
            </a:r>
          </a:p>
          <a:p>
            <a:r>
              <a:rPr lang="ru-RU" dirty="0"/>
              <a:t>Сетевые и </a:t>
            </a:r>
            <a:r>
              <a:rPr lang="en-US" dirty="0"/>
              <a:t>web </a:t>
            </a:r>
            <a:r>
              <a:rPr lang="ru-RU" dirty="0"/>
              <a:t>технологии (</a:t>
            </a:r>
            <a:r>
              <a:rPr lang="en-US" dirty="0" err="1"/>
              <a:t>tcp</a:t>
            </a:r>
            <a:r>
              <a:rPr lang="en-US" dirty="0"/>
              <a:t>/</a:t>
            </a:r>
            <a:r>
              <a:rPr lang="en-US" dirty="0" err="1"/>
              <a:t>ip</a:t>
            </a:r>
            <a:r>
              <a:rPr lang="ru-RU" dirty="0"/>
              <a:t>, сокеты, </a:t>
            </a:r>
            <a:r>
              <a:rPr lang="en-US" dirty="0"/>
              <a:t>ftp, </a:t>
            </a:r>
            <a:r>
              <a:rPr lang="en-US" dirty="0" err="1"/>
              <a:t>ssh</a:t>
            </a:r>
            <a:r>
              <a:rPr lang="en-US" dirty="0"/>
              <a:t>/</a:t>
            </a:r>
            <a:r>
              <a:rPr lang="en-US" dirty="0" err="1"/>
              <a:t>scp</a:t>
            </a:r>
            <a:r>
              <a:rPr lang="en-US" dirty="0"/>
              <a:t>, ping/</a:t>
            </a:r>
            <a:r>
              <a:rPr lang="en-US" dirty="0" err="1"/>
              <a:t>wget</a:t>
            </a:r>
            <a:r>
              <a:rPr lang="en-US" dirty="0"/>
              <a:t>/curl, API</a:t>
            </a:r>
            <a:r>
              <a:rPr lang="ru-RU" dirty="0"/>
              <a:t>)</a:t>
            </a:r>
          </a:p>
          <a:p>
            <a:r>
              <a:rPr lang="ru-RU" dirty="0"/>
              <a:t>Понимание принципов работы аппаратного обеспечения для </a:t>
            </a:r>
            <a:r>
              <a:rPr lang="en-US" dirty="0"/>
              <a:t>LLM (HDD, RAM, CPU/GPU)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Инструменты</a:t>
            </a:r>
          </a:p>
          <a:p>
            <a:r>
              <a:rPr lang="ru-RU" dirty="0"/>
              <a:t>Инфраструктура с </a:t>
            </a:r>
            <a:r>
              <a:rPr lang="en-US" dirty="0"/>
              <a:t>GPU (</a:t>
            </a:r>
            <a:r>
              <a:rPr lang="ru-RU" dirty="0"/>
              <a:t>предпочтительно </a:t>
            </a:r>
            <a:r>
              <a:rPr lang="en-US" dirty="0"/>
              <a:t>Yandex Cloud </a:t>
            </a:r>
            <a:r>
              <a:rPr lang="ru-RU" dirty="0"/>
              <a:t>или </a:t>
            </a:r>
            <a:r>
              <a:rPr lang="en-US" dirty="0" err="1"/>
              <a:t>Sber</a:t>
            </a:r>
            <a:r>
              <a:rPr lang="en-US" dirty="0"/>
              <a:t> Cloud</a:t>
            </a:r>
            <a:r>
              <a:rPr lang="ru-RU" dirty="0"/>
              <a:t> – требуется наличие аккаунтов</a:t>
            </a:r>
            <a:r>
              <a:rPr lang="en-US" dirty="0"/>
              <a:t>). </a:t>
            </a:r>
            <a:r>
              <a:rPr lang="ru-RU" dirty="0"/>
              <a:t>Возможно применение локальной </a:t>
            </a:r>
            <a:r>
              <a:rPr lang="en-US" dirty="0"/>
              <a:t>GPU </a:t>
            </a:r>
            <a:r>
              <a:rPr lang="ru-RU" dirty="0"/>
              <a:t>на собственном сервере (без виртуализации)</a:t>
            </a:r>
          </a:p>
          <a:p>
            <a:r>
              <a:rPr lang="ru-RU" dirty="0"/>
              <a:t>Образы виртуальных машин: </a:t>
            </a:r>
            <a:r>
              <a:rPr lang="en-US" dirty="0"/>
              <a:t>LLM host (Ubuntu 24.04) </a:t>
            </a:r>
            <a:r>
              <a:rPr lang="ru-RU" dirty="0"/>
              <a:t>и </a:t>
            </a:r>
            <a:r>
              <a:rPr lang="en-US" dirty="0"/>
              <a:t>Red Team host (kali 6.16.8)</a:t>
            </a:r>
            <a:endParaRPr lang="ru-RU" dirty="0"/>
          </a:p>
          <a:p>
            <a:r>
              <a:rPr lang="ru-RU" dirty="0"/>
              <a:t>Доступ в интернет для скачивания ПО и моделей</a:t>
            </a:r>
            <a:r>
              <a:rPr lang="en-US" dirty="0"/>
              <a:t> 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262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94290-765D-434D-BC21-9CC54F96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практического занятия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748DA-393D-4F21-ACB7-C03113F8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558483"/>
            <a:ext cx="10938834" cy="4897399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Установить и настроить гипервизор </a:t>
            </a:r>
            <a:r>
              <a:rPr lang="en-US" dirty="0"/>
              <a:t>(</a:t>
            </a:r>
            <a:r>
              <a:rPr lang="en-US" dirty="0" err="1"/>
              <a:t>virtualbox</a:t>
            </a:r>
            <a:r>
              <a:rPr lang="en-US" dirty="0"/>
              <a:t> 7.0), </a:t>
            </a:r>
            <a:r>
              <a:rPr lang="ru-RU" dirty="0"/>
              <a:t>либо получить и настроить для работы аккаунт в облачном сервисе (</a:t>
            </a:r>
            <a:r>
              <a:rPr lang="en-US" dirty="0"/>
              <a:t>Yandex Cloud “Compute Cloud” 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Установить и настроить виртуальную машину </a:t>
            </a:r>
            <a:r>
              <a:rPr lang="en-US" dirty="0"/>
              <a:t>“LLM host”</a:t>
            </a:r>
            <a:r>
              <a:rPr lang="ru-RU" dirty="0"/>
              <a:t> (</a:t>
            </a:r>
            <a:r>
              <a:rPr lang="en-US" dirty="0"/>
              <a:t>HW GPU (</a:t>
            </a:r>
            <a:r>
              <a:rPr lang="ru-RU" dirty="0"/>
              <a:t>при наличии</a:t>
            </a:r>
            <a:r>
              <a:rPr lang="en-US" dirty="0"/>
              <a:t>)</a:t>
            </a:r>
            <a:r>
              <a:rPr lang="ru-RU" dirty="0"/>
              <a:t> или </a:t>
            </a:r>
            <a:r>
              <a:rPr lang="en-US" dirty="0"/>
              <a:t>CPU, Ubuntu 24.04, Nvidia </a:t>
            </a:r>
            <a:r>
              <a:rPr lang="ru-RU" dirty="0"/>
              <a:t>драйвера, системные утилиты)</a:t>
            </a:r>
          </a:p>
          <a:p>
            <a:r>
              <a:rPr lang="ru-RU" dirty="0"/>
              <a:t>Установить и опробовать различное ПО для управления </a:t>
            </a:r>
            <a:r>
              <a:rPr lang="en-US" dirty="0"/>
              <a:t>LLM (</a:t>
            </a:r>
            <a:r>
              <a:rPr lang="en-US" dirty="0" err="1"/>
              <a:t>ollama</a:t>
            </a:r>
            <a:r>
              <a:rPr lang="en-US" dirty="0"/>
              <a:t>, </a:t>
            </a:r>
            <a:r>
              <a:rPr lang="en-US" dirty="0" err="1"/>
              <a:t>vllm</a:t>
            </a:r>
            <a:r>
              <a:rPr lang="en-US" dirty="0"/>
              <a:t>)</a:t>
            </a:r>
          </a:p>
          <a:p>
            <a:r>
              <a:rPr lang="ru-RU" dirty="0"/>
              <a:t>Скачать веса нескольких </a:t>
            </a:r>
            <a:r>
              <a:rPr lang="en-US" dirty="0"/>
              <a:t>LLM</a:t>
            </a:r>
            <a:r>
              <a:rPr lang="ru-RU" dirty="0"/>
              <a:t> с разными характеристиками</a:t>
            </a:r>
            <a:r>
              <a:rPr lang="en-US" dirty="0"/>
              <a:t> </a:t>
            </a:r>
            <a:r>
              <a:rPr lang="ru-RU" dirty="0"/>
              <a:t>и опробовать в работе</a:t>
            </a:r>
          </a:p>
          <a:p>
            <a:r>
              <a:rPr lang="ru-RU" dirty="0"/>
              <a:t>Установить библиотеку </a:t>
            </a:r>
            <a:r>
              <a:rPr lang="en-US" dirty="0" err="1"/>
              <a:t>langchain</a:t>
            </a:r>
            <a:r>
              <a:rPr lang="ru-RU" dirty="0"/>
              <a:t> в виртуальном окружении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ru-RU" dirty="0"/>
              <a:t>и реализовать программные запросы к локальной </a:t>
            </a:r>
            <a:r>
              <a:rPr lang="en-US" dirty="0"/>
              <a:t>LLM </a:t>
            </a:r>
            <a:r>
              <a:rPr lang="ru-RU" dirty="0"/>
              <a:t>в разных сценариях: базовый запрос, цепочка запросов, </a:t>
            </a:r>
            <a:r>
              <a:rPr lang="en-US" dirty="0"/>
              <a:t>RAG, LLM </a:t>
            </a:r>
            <a:r>
              <a:rPr lang="ru-RU" dirty="0"/>
              <a:t>агент</a:t>
            </a:r>
            <a:endParaRPr lang="en-US" dirty="0"/>
          </a:p>
          <a:p>
            <a:r>
              <a:rPr lang="ru-RU" dirty="0"/>
              <a:t>Установить и настроить виртуальную машину </a:t>
            </a:r>
            <a:r>
              <a:rPr lang="en-US" dirty="0"/>
              <a:t>“Red Team host” (Kali Linux) </a:t>
            </a:r>
            <a:r>
              <a:rPr lang="ru-RU" dirty="0"/>
              <a:t>для анализа защищенности, использовать основные инструменты администрирования: контроль ресурсов, мониторинг сети, работа с сервисами</a:t>
            </a:r>
          </a:p>
          <a:p>
            <a:r>
              <a:rPr lang="ru-RU" dirty="0"/>
              <a:t>Опробовать базовые инструменты </a:t>
            </a:r>
            <a:r>
              <a:rPr lang="en-US" dirty="0"/>
              <a:t>red teaming </a:t>
            </a:r>
            <a:r>
              <a:rPr lang="ru-RU" dirty="0"/>
              <a:t>на </a:t>
            </a:r>
            <a:r>
              <a:rPr lang="en-US" dirty="0"/>
              <a:t>kali,</a:t>
            </a:r>
            <a:r>
              <a:rPr lang="ru-RU" dirty="0"/>
              <a:t> провести простые тесты (сканирование портов, определение версий сервисов, определение операционной системы)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23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50935-3395-4601-A3E3-87515AB5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схема тестового полигона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647B51B-030B-45E0-B646-A5258A304D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587320"/>
              </p:ext>
            </p:extLst>
          </p:nvPr>
        </p:nvGraphicFramePr>
        <p:xfrm>
          <a:off x="5695719" y="2280492"/>
          <a:ext cx="5927075" cy="3778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3E3930-C988-417A-8F59-EFDDBF3E6AA0}"/>
              </a:ext>
            </a:extLst>
          </p:cNvPr>
          <p:cNvSpPr/>
          <p:nvPr/>
        </p:nvSpPr>
        <p:spPr>
          <a:xfrm>
            <a:off x="492087" y="2249660"/>
            <a:ext cx="47960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D1D1F"/>
                </a:solidFill>
                <a:latin typeface="system-ui"/>
              </a:rPr>
              <a:t>Цель создания полигона: изучение уязвимостей </a:t>
            </a:r>
            <a:r>
              <a:rPr lang="en-US" dirty="0">
                <a:solidFill>
                  <a:srgbClr val="1D1D1F"/>
                </a:solidFill>
                <a:latin typeface="system-ui"/>
              </a:rPr>
              <a:t>ML/</a:t>
            </a:r>
            <a:r>
              <a:rPr lang="ru-RU" dirty="0">
                <a:solidFill>
                  <a:srgbClr val="1D1D1F"/>
                </a:solidFill>
                <a:latin typeface="system-ui"/>
              </a:rPr>
              <a:t>ИИ для защиты реальных систем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1" dirty="0">
              <a:solidFill>
                <a:srgbClr val="1D1D1F"/>
              </a:solidFill>
              <a:latin typeface="system-ui"/>
            </a:endParaRPr>
          </a:p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Важно: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Работа только в изолированной лаборатории</a:t>
            </a:r>
            <a:r>
              <a:rPr lang="ru-RU" dirty="0">
                <a:solidFill>
                  <a:srgbClr val="1D1D1F"/>
                </a:solidFill>
                <a:latin typeface="system-ui"/>
              </a:rPr>
              <a:t> (без доступа к Интернет)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Применение только на своих виртуальных машинах</a:t>
            </a:r>
            <a:r>
              <a:rPr lang="ru-RU" dirty="0">
                <a:solidFill>
                  <a:srgbClr val="1D1D1F"/>
                </a:solidFill>
                <a:latin typeface="system-ui"/>
              </a:rPr>
              <a:t> (запрещено проведение экспериментов во внешних системах)</a:t>
            </a:r>
          </a:p>
        </p:txBody>
      </p:sp>
    </p:spTree>
    <p:extLst>
      <p:ext uri="{BB962C8B-B14F-4D97-AF65-F5344CB8AC3E}">
        <p14:creationId xmlns:p14="http://schemas.microsoft.com/office/powerpoint/2010/main" val="1624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E9480-E57D-41F8-8889-F9D5AC36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</a:t>
            </a:r>
            <a:r>
              <a:rPr lang="ru-RU" baseline="0" dirty="0"/>
              <a:t> ресурсов для </a:t>
            </a:r>
            <a:r>
              <a:rPr lang="en-US" baseline="0" dirty="0"/>
              <a:t>LLM host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43BB066-E60A-42D8-AD0F-C26F5FFD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6084"/>
              </p:ext>
            </p:extLst>
          </p:nvPr>
        </p:nvGraphicFramePr>
        <p:xfrm>
          <a:off x="838200" y="4492481"/>
          <a:ext cx="10688783" cy="2065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8418">
                  <a:extLst>
                    <a:ext uri="{9D8B030D-6E8A-4147-A177-3AD203B41FA5}">
                      <a16:colId xmlns:a16="http://schemas.microsoft.com/office/drawing/2014/main" val="400428535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55991496"/>
                    </a:ext>
                  </a:extLst>
                </a:gridCol>
                <a:gridCol w="3103418">
                  <a:extLst>
                    <a:ext uri="{9D8B030D-6E8A-4147-A177-3AD203B41FA5}">
                      <a16:colId xmlns:a16="http://schemas.microsoft.com/office/drawing/2014/main" val="2098684787"/>
                    </a:ext>
                  </a:extLst>
                </a:gridCol>
                <a:gridCol w="4405747">
                  <a:extLst>
                    <a:ext uri="{9D8B030D-6E8A-4147-A177-3AD203B41FA5}">
                      <a16:colId xmlns:a16="http://schemas.microsoft.com/office/drawing/2014/main" val="43136235"/>
                    </a:ext>
                  </a:extLst>
                </a:gridCol>
              </a:tblGrid>
              <a:tr h="6056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Модель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Полная точность (</a:t>
                      </a:r>
                      <a:r>
                        <a:rPr lang="en-US" sz="1100">
                          <a:effectLst/>
                        </a:rPr>
                        <a:t>FP16</a:t>
                      </a:r>
                      <a:r>
                        <a:rPr lang="ru-RU" sz="11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4-bit квантование, </a:t>
                      </a:r>
                      <a:r>
                        <a:rPr lang="en-US" sz="1100">
                          <a:effectLst/>
                        </a:rPr>
                        <a:t>AWQ</a:t>
                      </a:r>
                      <a:r>
                        <a:rPr lang="ru-RU" sz="1100">
                          <a:effectLst/>
                        </a:rPr>
                        <a:t>/</a:t>
                      </a:r>
                      <a:r>
                        <a:rPr lang="en-US" sz="1100">
                          <a:effectLst/>
                        </a:rPr>
                        <a:t>GGUF </a:t>
                      </a:r>
                      <a:r>
                        <a:rPr lang="ru-RU" sz="1100">
                          <a:effectLst/>
                        </a:rPr>
                        <a:t>снижают требования к </a:t>
                      </a:r>
                      <a:r>
                        <a:rPr lang="en-US" sz="1100">
                          <a:effectLst/>
                        </a:rPr>
                        <a:t>VRAM </a:t>
                      </a:r>
                      <a:r>
                        <a:rPr lang="ru-RU" sz="1100">
                          <a:effectLst/>
                        </a:rPr>
                        <a:t>примерно в два раза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Рекомендуемые характеристики виртуальной машины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0005488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Qwen3-8B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14–16 GB VRAM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6–8 GB VRAM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GPU</a:t>
                      </a:r>
                      <a:r>
                        <a:rPr lang="ru-RU" sz="1100" dirty="0">
                          <a:effectLst/>
                        </a:rPr>
                        <a:t>: </a:t>
                      </a:r>
                      <a:r>
                        <a:rPr lang="en-US" sz="1100" dirty="0">
                          <a:effectLst/>
                        </a:rPr>
                        <a:t>RTX</a:t>
                      </a:r>
                      <a:r>
                        <a:rPr lang="ru-RU" sz="1100" dirty="0">
                          <a:effectLst/>
                        </a:rPr>
                        <a:t> 3060 12</a:t>
                      </a:r>
                      <a:r>
                        <a:rPr lang="en-US" sz="1100" dirty="0">
                          <a:effectLst/>
                        </a:rPr>
                        <a:t>GB</a:t>
                      </a:r>
                      <a:r>
                        <a:rPr lang="ru-RU" sz="1100" dirty="0">
                          <a:effectLst/>
                        </a:rPr>
                        <a:t> / </a:t>
                      </a:r>
                      <a:r>
                        <a:rPr lang="en-US" sz="1100" dirty="0">
                          <a:effectLst/>
                        </a:rPr>
                        <a:t>A</a:t>
                      </a:r>
                      <a:r>
                        <a:rPr lang="ru-RU" sz="1100" dirty="0">
                          <a:effectLst/>
                        </a:rPr>
                        <a:t>4000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CPU</a:t>
                      </a:r>
                      <a:r>
                        <a:rPr lang="ru-RU" sz="1100" dirty="0">
                          <a:effectLst/>
                        </a:rPr>
                        <a:t>: 8+ ядер, 32 </a:t>
                      </a:r>
                      <a:r>
                        <a:rPr lang="en-US" sz="1100" dirty="0">
                          <a:effectLst/>
                        </a:rPr>
                        <a:t>GB RAM</a:t>
                      </a:r>
                      <a:r>
                        <a:rPr lang="ru-RU" sz="1100" dirty="0">
                          <a:effectLst/>
                        </a:rPr>
                        <a:t>, 50 </a:t>
                      </a:r>
                      <a:r>
                        <a:rPr lang="en-US" sz="1100" dirty="0">
                          <a:effectLst/>
                        </a:rPr>
                        <a:t>GB SSD</a:t>
                      </a:r>
                      <a:r>
                        <a:rPr lang="ru-RU" sz="1100" dirty="0">
                          <a:effectLst/>
                        </a:rPr>
                        <a:t> (хранение моделей и </a:t>
                      </a:r>
                      <a:r>
                        <a:rPr lang="ru-RU" sz="1100" dirty="0" err="1">
                          <a:effectLst/>
                        </a:rPr>
                        <a:t>кешей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0589303"/>
                  </a:ext>
                </a:extLst>
              </a:tr>
              <a:tr h="4525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Qwen3-14B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24–28 GB VRAM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10–12 GB VRAM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GPU: RTX 4090 / A5000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CPU: 12+ </a:t>
                      </a:r>
                      <a:r>
                        <a:rPr lang="ru-RU" sz="1100" dirty="0">
                          <a:effectLst/>
                        </a:rPr>
                        <a:t>ядер</a:t>
                      </a:r>
                      <a:r>
                        <a:rPr lang="en-US" sz="1100" dirty="0">
                          <a:effectLst/>
                        </a:rPr>
                        <a:t>, 32 GB RAM, 80 GB SSD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451961"/>
                  </a:ext>
                </a:extLst>
              </a:tr>
              <a:tr h="4525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GigaChat3-10B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455595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5D7D5D4-73DD-4D10-BDB6-0051A5000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31307"/>
            <a:ext cx="1079961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LLM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Qwen3-8B: 8 млрд параметров, контекст до 128K токенов, обучена на ~36 трлн токенов (qwenlm.github.io). Хорошо справляется с общими задачами, кодом и рассуждениями.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Qwen3-14B</a:t>
            </a: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(14 млрд параметров).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Более сложные рассуждения и лучшее качество генерации при умеренных ресурсах.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Варианты</a:t>
            </a:r>
            <a:r>
              <a:rPr lang="en-US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ля очень ограниченных ресурсов: </a:t>
            </a:r>
            <a:endParaRPr lang="en-US" alt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Qwen3-4B или Qwen3-1.7B (но с заметным падением качества).</a:t>
            </a:r>
            <a:endParaRPr lang="en-US" altLang="ru-RU" sz="105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Qwen3-8B в 4-bit квантовании (AWQ или GGUF) — это даст ~70-80% качества полной версии при минимальных требованиях к памяти.</a:t>
            </a:r>
            <a:r>
              <a:rPr lang="ru-RU" altLang="ru-RU" sz="1050" dirty="0"/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квантованных версий ищите теги -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AWQ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или -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GGUF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названиях моделей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ru-RU" altLang="ru-RU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GigaChat3-10B (</a:t>
            </a:r>
            <a:r>
              <a:rPr kumimoji="0" lang="en-US" altLang="ru-RU" sz="16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Sber</a:t>
            </a:r>
            <a:r>
              <a:rPr kumimoji="0" lang="en-US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Lightning): </a:t>
            </a:r>
            <a:r>
              <a:rPr kumimoji="0" lang="ru-RU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отечественная </a:t>
            </a:r>
            <a:r>
              <a:rPr kumimoji="0" lang="en-US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open-source </a:t>
            </a:r>
            <a:r>
              <a:rPr kumimoji="0" lang="ru-RU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модель от </a:t>
            </a:r>
            <a:r>
              <a:rPr kumimoji="0" lang="ru-RU" altLang="ru-RU" sz="16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Сбер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383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4CF34B-EF19-4713-B62C-E126AADB1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472" y="2803706"/>
            <a:ext cx="4487595" cy="12813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3F-D7CA-435C-9F1A-EF12B959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и настройка</a:t>
            </a:r>
            <a:r>
              <a:rPr lang="ru-RU" baseline="0" dirty="0"/>
              <a:t> </a:t>
            </a:r>
            <a:r>
              <a:rPr lang="en-US" baseline="0" dirty="0"/>
              <a:t>Ubuntu 24.04 (Yandex Cloud)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C6FB7-6D3B-4508-996A-1B2D9B3BFBC4}"/>
              </a:ext>
            </a:extLst>
          </p:cNvPr>
          <p:cNvSpPr txBox="1"/>
          <p:nvPr/>
        </p:nvSpPr>
        <p:spPr>
          <a:xfrm>
            <a:off x="838200" y="1861851"/>
            <a:ext cx="501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Консоль для работы: https://console.yandex.cloud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8BB63-BAE7-4C87-8A81-3E320CD5801F}"/>
              </a:ext>
            </a:extLst>
          </p:cNvPr>
          <p:cNvSpPr txBox="1"/>
          <p:nvPr/>
        </p:nvSpPr>
        <p:spPr>
          <a:xfrm>
            <a:off x="838200" y="2329800"/>
            <a:ext cx="2375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Раздел </a:t>
            </a:r>
            <a:r>
              <a:rPr lang="en-US" dirty="0"/>
              <a:t>Compute Cloud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9A1BA3-8BA7-4FBC-86E5-0EE15993D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68" y="2699132"/>
            <a:ext cx="528472" cy="1281364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8151E9AC-4BBF-4707-A2E2-8A1F6F2D3CA2}"/>
              </a:ext>
            </a:extLst>
          </p:cNvPr>
          <p:cNvSpPr/>
          <p:nvPr/>
        </p:nvSpPr>
        <p:spPr>
          <a:xfrm>
            <a:off x="265443" y="3029637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CB30A3-CB18-40FA-862F-3A5BDCD78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43" y="4351131"/>
            <a:ext cx="5733575" cy="428613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3D94C9EC-5C11-42AF-A06B-6A1B5E9FD119}"/>
              </a:ext>
            </a:extLst>
          </p:cNvPr>
          <p:cNvSpPr/>
          <p:nvPr/>
        </p:nvSpPr>
        <p:spPr>
          <a:xfrm>
            <a:off x="3521261" y="4170490"/>
            <a:ext cx="2671723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FDF7411-57B1-4764-B10A-5560D88B8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72006"/>
            <a:ext cx="3018168" cy="1768889"/>
          </a:xfrm>
          <a:prstGeom prst="rect">
            <a:avLst/>
          </a:prstGeom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3D85DE87-D2B6-47F0-90D4-4C6CC3DBAF77}"/>
              </a:ext>
            </a:extLst>
          </p:cNvPr>
          <p:cNvSpPr/>
          <p:nvPr/>
        </p:nvSpPr>
        <p:spPr>
          <a:xfrm>
            <a:off x="769923" y="6058774"/>
            <a:ext cx="1238986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78A4DF-DD65-4BF6-AA6C-3F5E03E51721}"/>
              </a:ext>
            </a:extLst>
          </p:cNvPr>
          <p:cNvSpPr txBox="1"/>
          <p:nvPr/>
        </p:nvSpPr>
        <p:spPr>
          <a:xfrm>
            <a:off x="7229851" y="1861851"/>
            <a:ext cx="412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Требуемые ресурсы: </a:t>
            </a:r>
            <a:r>
              <a:rPr lang="en-US" dirty="0"/>
              <a:t>80+</a:t>
            </a:r>
            <a:r>
              <a:rPr lang="ru-RU" dirty="0"/>
              <a:t> Гб </a:t>
            </a:r>
            <a:r>
              <a:rPr lang="en-US" dirty="0"/>
              <a:t>SDD, GPU T4</a:t>
            </a: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5BA8D48-8599-460A-BA6C-89E79E1DA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8447" y="2402346"/>
            <a:ext cx="4123949" cy="167046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E5A6B11E-E181-4D76-BAE0-9809B592E87F}"/>
              </a:ext>
            </a:extLst>
          </p:cNvPr>
          <p:cNvSpPr/>
          <p:nvPr/>
        </p:nvSpPr>
        <p:spPr>
          <a:xfrm>
            <a:off x="9342244" y="2877505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235C09FD-3D85-4478-A39B-AEB4C0635C81}"/>
              </a:ext>
            </a:extLst>
          </p:cNvPr>
          <p:cNvSpPr/>
          <p:nvPr/>
        </p:nvSpPr>
        <p:spPr>
          <a:xfrm>
            <a:off x="9694324" y="3418104"/>
            <a:ext cx="704161" cy="562392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5BAFB77-765D-45C7-824A-CFC68A4FE38C}"/>
              </a:ext>
            </a:extLst>
          </p:cNvPr>
          <p:cNvSpPr/>
          <p:nvPr/>
        </p:nvSpPr>
        <p:spPr>
          <a:xfrm>
            <a:off x="1024808" y="3160139"/>
            <a:ext cx="1565992" cy="433462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6DA5BD1-9A27-41B5-809C-C35DA4DC3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1224" y="4685910"/>
            <a:ext cx="5605333" cy="1746438"/>
          </a:xfrm>
          <a:prstGeom prst="rect">
            <a:avLst/>
          </a:prstGeom>
        </p:spPr>
      </p:pic>
      <p:sp>
        <p:nvSpPr>
          <p:cNvPr id="28" name="Овал 27">
            <a:extLst>
              <a:ext uri="{FF2B5EF4-FFF2-40B4-BE49-F238E27FC236}">
                <a16:creationId xmlns:a16="http://schemas.microsoft.com/office/drawing/2014/main" id="{32589A5E-75AC-4E51-A09C-13D31B15A843}"/>
              </a:ext>
            </a:extLst>
          </p:cNvPr>
          <p:cNvSpPr/>
          <p:nvPr/>
        </p:nvSpPr>
        <p:spPr>
          <a:xfrm>
            <a:off x="9254836" y="4886586"/>
            <a:ext cx="704161" cy="47460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1B87D381-86D3-48A5-AB62-F18442B380BD}"/>
              </a:ext>
            </a:extLst>
          </p:cNvPr>
          <p:cNvSpPr/>
          <p:nvPr/>
        </p:nvSpPr>
        <p:spPr>
          <a:xfrm>
            <a:off x="9929212" y="5581532"/>
            <a:ext cx="1997345" cy="47460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1BD3D49-44E4-4F04-9B9B-ACE3128D1970}"/>
              </a:ext>
            </a:extLst>
          </p:cNvPr>
          <p:cNvSpPr/>
          <p:nvPr/>
        </p:nvSpPr>
        <p:spPr>
          <a:xfrm>
            <a:off x="9383076" y="5205322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073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830C3-ED81-4766-8D7D-36D4722B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27824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Установка и настройка </a:t>
            </a:r>
            <a:r>
              <a:rPr lang="en-US" dirty="0" err="1"/>
              <a:t>Virtualbox</a:t>
            </a:r>
            <a:r>
              <a:rPr lang="en-US" dirty="0"/>
              <a:t> </a:t>
            </a:r>
            <a:r>
              <a:rPr lang="ru-RU" dirty="0"/>
              <a:t>и виртуальных машин (на примере </a:t>
            </a:r>
            <a:r>
              <a:rPr lang="en-US" dirty="0"/>
              <a:t>Ubuntu)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5EFCF-BD76-4EE6-A37A-C91CB4400709}"/>
              </a:ext>
            </a:extLst>
          </p:cNvPr>
          <p:cNvSpPr txBox="1"/>
          <p:nvPr/>
        </p:nvSpPr>
        <p:spPr>
          <a:xfrm>
            <a:off x="694982" y="1795753"/>
            <a:ext cx="65541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Официальный сайт: </a:t>
            </a:r>
            <a:r>
              <a:rPr lang="en-US" dirty="0">
                <a:hlinkClick r:id="rId2"/>
              </a:rPr>
              <a:t>https://www.virtualbox.org/wiki/Downloads</a:t>
            </a:r>
            <a:endParaRPr lang="en-US" dirty="0"/>
          </a:p>
          <a:p>
            <a:r>
              <a:rPr lang="ru-RU" dirty="0"/>
              <a:t>(типовая установка </a:t>
            </a:r>
            <a:r>
              <a:rPr lang="en-US" dirty="0"/>
              <a:t>windows </a:t>
            </a:r>
            <a:r>
              <a:rPr lang="ru-RU" dirty="0"/>
              <a:t>программы)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графическом интерфейсе </a:t>
            </a:r>
            <a:r>
              <a:rPr lang="en-US" dirty="0" err="1"/>
              <a:t>virtualbox</a:t>
            </a:r>
            <a:r>
              <a:rPr lang="en-US" dirty="0"/>
              <a:t> </a:t>
            </a:r>
            <a:r>
              <a:rPr lang="ru-RU" dirty="0"/>
              <a:t>необходимо создать новую виртуальную машину и использовать соответствующие образы ОС для установки (</a:t>
            </a:r>
            <a:r>
              <a:rPr lang="en-US" dirty="0"/>
              <a:t>ubuntu </a:t>
            </a:r>
            <a:r>
              <a:rPr lang="ru-RU" dirty="0"/>
              <a:t>и </a:t>
            </a:r>
            <a:r>
              <a:rPr lang="en-US" dirty="0"/>
              <a:t>kali</a:t>
            </a:r>
            <a:r>
              <a:rPr lang="ru-RU" dirty="0"/>
              <a:t>)</a:t>
            </a:r>
            <a:endParaRPr lang="en-US" dirty="0"/>
          </a:p>
          <a:p>
            <a:endParaRPr lang="en-US" dirty="0"/>
          </a:p>
          <a:p>
            <a:r>
              <a:rPr lang="ru-RU" dirty="0"/>
              <a:t>Образ для </a:t>
            </a:r>
            <a:r>
              <a:rPr lang="en-US" dirty="0"/>
              <a:t>Ubuntu 24.04 </a:t>
            </a:r>
            <a:r>
              <a:rPr lang="ru-RU" dirty="0"/>
              <a:t>можно скачать здесь: </a:t>
            </a:r>
            <a:r>
              <a:rPr lang="en-US" dirty="0">
                <a:hlinkClick r:id="rId3"/>
              </a:rPr>
              <a:t>https://ubuntu.com/download/desktop</a:t>
            </a:r>
            <a:endParaRPr lang="ru-RU" dirty="0"/>
          </a:p>
          <a:p>
            <a:endParaRPr lang="ru-RU" dirty="0"/>
          </a:p>
          <a:p>
            <a:r>
              <a:rPr lang="ru-RU" dirty="0"/>
              <a:t>Чтобы корректно работали функции ВМ (копирование буфера, изменение разрешения экрана и пр.) необходимо установить «</a:t>
            </a:r>
            <a:r>
              <a:rPr lang="en-US" dirty="0"/>
              <a:t>Guest additions</a:t>
            </a:r>
            <a:r>
              <a:rPr lang="ru-RU" dirty="0"/>
              <a:t>»</a:t>
            </a:r>
            <a:r>
              <a:rPr lang="en-US" dirty="0"/>
              <a:t>: https://download.virtualbox.org/virtualbox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E9F5EB-2817-4B4C-99FF-D20A80594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495" y="1795751"/>
            <a:ext cx="4841505" cy="4329628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FCE849A3-BCF6-442B-8EA9-CA5E579F3779}"/>
              </a:ext>
            </a:extLst>
          </p:cNvPr>
          <p:cNvSpPr/>
          <p:nvPr/>
        </p:nvSpPr>
        <p:spPr>
          <a:xfrm>
            <a:off x="9383076" y="1977380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2559132-0B9F-42DA-9269-DECFF0CAB529}"/>
              </a:ext>
            </a:extLst>
          </p:cNvPr>
          <p:cNvSpPr/>
          <p:nvPr/>
        </p:nvSpPr>
        <p:spPr>
          <a:xfrm>
            <a:off x="7249098" y="2946864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AAAE806-3D26-46E1-9A03-4FED9AFA47DF}"/>
              </a:ext>
            </a:extLst>
          </p:cNvPr>
          <p:cNvSpPr/>
          <p:nvPr/>
        </p:nvSpPr>
        <p:spPr>
          <a:xfrm>
            <a:off x="11487839" y="4847274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260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830C3-ED81-4766-8D7D-36D4722B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27824" cy="1325563"/>
          </a:xfrm>
        </p:spPr>
        <p:txBody>
          <a:bodyPr>
            <a:normAutofit/>
          </a:bodyPr>
          <a:lstStyle/>
          <a:p>
            <a:r>
              <a:rPr lang="ru-RU" dirty="0"/>
              <a:t>Установка и настройка </a:t>
            </a:r>
            <a:r>
              <a:rPr lang="en-US" dirty="0"/>
              <a:t>Ubuntu 24.04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5EFCF-BD76-4EE6-A37A-C91CB4400709}"/>
              </a:ext>
            </a:extLst>
          </p:cNvPr>
          <p:cNvSpPr txBox="1"/>
          <p:nvPr/>
        </p:nvSpPr>
        <p:spPr>
          <a:xfrm>
            <a:off x="452611" y="1426419"/>
            <a:ext cx="655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Образ </a:t>
            </a:r>
            <a:r>
              <a:rPr lang="en-US" dirty="0"/>
              <a:t>Ubuntu 24.04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https://ubuntu.com/download/desktop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FCE849A3-BCF6-442B-8EA9-CA5E579F3779}"/>
              </a:ext>
            </a:extLst>
          </p:cNvPr>
          <p:cNvSpPr/>
          <p:nvPr/>
        </p:nvSpPr>
        <p:spPr>
          <a:xfrm>
            <a:off x="8678915" y="578238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AAAE806-3D26-46E1-9A03-4FED9AFA47DF}"/>
              </a:ext>
            </a:extLst>
          </p:cNvPr>
          <p:cNvSpPr/>
          <p:nvPr/>
        </p:nvSpPr>
        <p:spPr>
          <a:xfrm>
            <a:off x="6794654" y="669858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8ADBE0-3B8D-4852-887A-D21A6FDD3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06" y="2178225"/>
            <a:ext cx="3829278" cy="147506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3F85135-1142-46A8-98DA-651E16C22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87" y="4676582"/>
            <a:ext cx="3836682" cy="7636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AE54A5-02AF-41D6-A42C-DAC06EE48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86" y="2195823"/>
            <a:ext cx="3836682" cy="15480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7C729F-350D-4F04-B65E-7E47581D9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86" y="4676582"/>
            <a:ext cx="3744703" cy="181629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950D19-504E-48B7-838E-78BCF944C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339" y="4676582"/>
            <a:ext cx="3305175" cy="10477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99F6B1-7C60-4852-9549-A929854963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993" y="2169450"/>
            <a:ext cx="2557923" cy="235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3F918-90EA-4563-967A-60773B4F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(</a:t>
            </a:r>
            <a:r>
              <a:rPr lang="ru-RU" dirty="0"/>
              <a:t>можно, но не рекомендуется</a:t>
            </a:r>
            <a:r>
              <a:rPr lang="en-US" dirty="0"/>
              <a:t>)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3E29EB5-F82A-4D22-A81C-867F47F00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601270"/>
              </p:ext>
            </p:extLst>
          </p:nvPr>
        </p:nvGraphicFramePr>
        <p:xfrm>
          <a:off x="1047521" y="4031549"/>
          <a:ext cx="10013415" cy="2093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3086">
                  <a:extLst>
                    <a:ext uri="{9D8B030D-6E8A-4147-A177-3AD203B41FA5}">
                      <a16:colId xmlns:a16="http://schemas.microsoft.com/office/drawing/2014/main" val="364145727"/>
                    </a:ext>
                  </a:extLst>
                </a:gridCol>
                <a:gridCol w="2503086">
                  <a:extLst>
                    <a:ext uri="{9D8B030D-6E8A-4147-A177-3AD203B41FA5}">
                      <a16:colId xmlns:a16="http://schemas.microsoft.com/office/drawing/2014/main" val="2912022441"/>
                    </a:ext>
                  </a:extLst>
                </a:gridCol>
                <a:gridCol w="2503086">
                  <a:extLst>
                    <a:ext uri="{9D8B030D-6E8A-4147-A177-3AD203B41FA5}">
                      <a16:colId xmlns:a16="http://schemas.microsoft.com/office/drawing/2014/main" val="3581921053"/>
                    </a:ext>
                  </a:extLst>
                </a:gridCol>
                <a:gridCol w="2504157">
                  <a:extLst>
                    <a:ext uri="{9D8B030D-6E8A-4147-A177-3AD203B41FA5}">
                      <a16:colId xmlns:a16="http://schemas.microsoft.com/office/drawing/2014/main" val="3157582044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Параметр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Минимум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Рекомендовано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Комфортно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533533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RAM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16</a:t>
                      </a:r>
                      <a:r>
                        <a:rPr lang="ru-RU" sz="1600">
                          <a:effectLst/>
                        </a:rPr>
                        <a:t> ГБ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</a:t>
                      </a:r>
                      <a:r>
                        <a:rPr lang="ru-RU" sz="1600">
                          <a:effectLst/>
                        </a:rPr>
                        <a:t> Гб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32</a:t>
                      </a:r>
                      <a:r>
                        <a:rPr lang="ru-RU" sz="1600" dirty="0">
                          <a:effectLst/>
                        </a:rPr>
                        <a:t> ГБ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0891417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Ядра </a:t>
                      </a:r>
                      <a:r>
                        <a:rPr lang="en-US" sz="1600">
                          <a:effectLst/>
                        </a:rPr>
                        <a:t>CPU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12+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4236946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Тип инструкций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AVX2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AVX2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AVX-512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431055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Емкость и тип диска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20 ГБ </a:t>
                      </a:r>
                      <a:r>
                        <a:rPr lang="en-US" sz="1600">
                          <a:effectLst/>
                        </a:rPr>
                        <a:t>SSD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r>
                        <a:rPr lang="ru-RU" sz="1600">
                          <a:effectLst/>
                        </a:rPr>
                        <a:t>0 ГБ </a:t>
                      </a:r>
                      <a:r>
                        <a:rPr lang="en-US" sz="1600">
                          <a:effectLst/>
                        </a:rPr>
                        <a:t>SSD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r>
                        <a:rPr lang="ru-RU" sz="1600">
                          <a:effectLst/>
                        </a:rPr>
                        <a:t>0 ГБ </a:t>
                      </a:r>
                      <a:r>
                        <a:rPr lang="en-US" sz="1600">
                          <a:effectLst/>
                        </a:rPr>
                        <a:t>SSD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604982"/>
                  </a:ext>
                </a:extLst>
              </a:tr>
              <a:tr h="6080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Ожидаемая производительность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0.5–1 токен/сек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2–4 токен/сек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4–8 токен/сек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754869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1BF272D-E822-4658-ACC9-A2EB56269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62" y="1521012"/>
            <a:ext cx="9183821" cy="230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Запуск Qwen-8B только на CPU возможен, но требует корректировки ожиданий 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egoe UI Emoji" panose="020B0502040204020203" pitchFamily="34" charset="0"/>
              </a:rPr>
              <a:t>😊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и ресурсов.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запуске на CPU модель полностью загружается в оперативную память (а не в видеопамять). Если памяти окажется недостаточно, то система начнет использовать своп-память и скорость упадет на порядки.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растет линейно с числом ядер. Для 8 ядер — комфортная генерация 2–4 токена/сек.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Важно:</a:t>
            </a:r>
            <a:r>
              <a:rPr kumimoji="0" lang="ru-RU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HDD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вместо </a:t>
            </a:r>
            <a:r>
              <a:rPr lang="en-US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существенно замедлит загрузку модели (десятки минут с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HDD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вместо десятков секунд с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104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0B5BE-7E6C-464E-A1A8-113AABA4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драйверов </a:t>
            </a:r>
            <a:r>
              <a:rPr lang="en-US" baseline="0" dirty="0" err="1"/>
              <a:t>nvidia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C4C42-E88D-478F-9115-80B1BC1C5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494" y="1822450"/>
            <a:ext cx="11577506" cy="4351338"/>
          </a:xfrm>
        </p:spPr>
        <p:txBody>
          <a:bodyPr/>
          <a:lstStyle/>
          <a:p>
            <a:r>
              <a:rPr lang="ru-RU" dirty="0"/>
              <a:t>Если используется не заранее сконфигурированная виртуальная машина, то необходимо установить драйверы </a:t>
            </a:r>
            <a:r>
              <a:rPr lang="en-US" dirty="0" err="1"/>
              <a:t>nvidia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6AB269F-1967-42D8-8935-9FA1A0A34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8588"/>
              </p:ext>
            </p:extLst>
          </p:nvPr>
        </p:nvGraphicFramePr>
        <p:xfrm>
          <a:off x="838200" y="3786307"/>
          <a:ext cx="10247214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3607">
                  <a:extLst>
                    <a:ext uri="{9D8B030D-6E8A-4147-A177-3AD203B41FA5}">
                      <a16:colId xmlns:a16="http://schemas.microsoft.com/office/drawing/2014/main" val="3746291999"/>
                    </a:ext>
                  </a:extLst>
                </a:gridCol>
                <a:gridCol w="5123607">
                  <a:extLst>
                    <a:ext uri="{9D8B030D-6E8A-4147-A177-3AD203B41FA5}">
                      <a16:colId xmlns:a16="http://schemas.microsoft.com/office/drawing/2014/main" val="4239003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Команда в </a:t>
                      </a:r>
                      <a:r>
                        <a:rPr lang="en-US" dirty="0"/>
                        <a:t>CLI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96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nvidia-smi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Мониторинг устройств </a:t>
                      </a:r>
                      <a:r>
                        <a:rPr lang="en-US" dirty="0" err="1"/>
                        <a:t>nvidia</a:t>
                      </a:r>
                      <a:r>
                        <a:rPr lang="en-US" dirty="0"/>
                        <a:t>, </a:t>
                      </a:r>
                      <a:r>
                        <a:rPr lang="ru-RU" dirty="0"/>
                        <a:t>если не работает – значит не установлены драйверы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5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ubuntu-drivers devices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Список</a:t>
                      </a:r>
                      <a:r>
                        <a:rPr lang="ru-RU" baseline="0" dirty="0"/>
                        <a:t> доступных драйверов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01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ubuntu-drivers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autoinstall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Автоматизированный выбор и установка драйверов. Нужен </a:t>
                      </a:r>
                      <a:r>
                        <a:rPr lang="en-US" dirty="0"/>
                        <a:t>reboot</a:t>
                      </a:r>
                      <a:r>
                        <a:rPr lang="ru-RU" dirty="0"/>
                        <a:t> (для </a:t>
                      </a:r>
                      <a:r>
                        <a:rPr lang="en-US" dirty="0" err="1"/>
                        <a:t>yandex</a:t>
                      </a:r>
                      <a:r>
                        <a:rPr lang="en-US" baseline="0" dirty="0"/>
                        <a:t> cloud </a:t>
                      </a:r>
                      <a:r>
                        <a:rPr lang="ru-RU" baseline="0" dirty="0"/>
                        <a:t>через </a:t>
                      </a:r>
                      <a:r>
                        <a:rPr lang="en-US" baseline="0" dirty="0" err="1"/>
                        <a:t>yandex</a:t>
                      </a:r>
                      <a:r>
                        <a:rPr lang="en-US" baseline="0" dirty="0"/>
                        <a:t> console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85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lsmod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|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grep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Проверить загрузку ядра модуля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98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84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B0049-5480-46C4-A766-9A09146E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и использование </a:t>
            </a:r>
            <a:r>
              <a:rPr lang="en-US" dirty="0" err="1"/>
              <a:t>ollama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E83945-12DC-4B84-8D34-D974FF76A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08" y="1489053"/>
            <a:ext cx="11037983" cy="2110660"/>
          </a:xfrm>
        </p:spPr>
        <p:txBody>
          <a:bodyPr>
            <a:normAutofit/>
          </a:bodyPr>
          <a:lstStyle/>
          <a:p>
            <a:r>
              <a:rPr lang="ru-RU" sz="2000" dirty="0"/>
              <a:t>Подходит для первичного знакомства</a:t>
            </a:r>
            <a:r>
              <a:rPr lang="en-US" sz="2000" dirty="0"/>
              <a:t> </a:t>
            </a:r>
            <a:r>
              <a:rPr lang="ru-RU" sz="2000" dirty="0"/>
              <a:t>с фреймворками </a:t>
            </a:r>
            <a:r>
              <a:rPr lang="en-US" sz="2000" dirty="0"/>
              <a:t>LLM</a:t>
            </a:r>
            <a:endParaRPr lang="ru-RU" sz="2000" dirty="0"/>
          </a:p>
          <a:p>
            <a:r>
              <a:rPr lang="ru-RU" sz="2000" dirty="0"/>
              <a:t>Автоматически скачивает квантованную модель (</a:t>
            </a:r>
            <a:r>
              <a:rPr lang="en-US" sz="2000" dirty="0"/>
              <a:t>GGUF</a:t>
            </a:r>
            <a:r>
              <a:rPr lang="ru-RU" sz="2000" dirty="0"/>
              <a:t>)</a:t>
            </a:r>
          </a:p>
          <a:p>
            <a:r>
              <a:rPr lang="ru-RU" sz="2000" dirty="0"/>
              <a:t>Минимум конфигурации, работает даже на </a:t>
            </a:r>
            <a:r>
              <a:rPr lang="en-US" sz="2000" dirty="0"/>
              <a:t>CPU</a:t>
            </a:r>
            <a:r>
              <a:rPr lang="ru-RU" sz="2000" dirty="0"/>
              <a:t> </a:t>
            </a:r>
          </a:p>
          <a:p>
            <a:r>
              <a:rPr lang="ru-RU" sz="2000" dirty="0"/>
              <a:t>Подходит для быстрого тестирования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2FD648C-360F-4D6F-B137-9C3BB3C11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898432"/>
              </p:ext>
            </p:extLst>
          </p:nvPr>
        </p:nvGraphicFramePr>
        <p:xfrm>
          <a:off x="402268" y="3161621"/>
          <a:ext cx="7933210" cy="3539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440">
                  <a:extLst>
                    <a:ext uri="{9D8B030D-6E8A-4147-A177-3AD203B41FA5}">
                      <a16:colId xmlns:a16="http://schemas.microsoft.com/office/drawing/2014/main" val="82773398"/>
                    </a:ext>
                  </a:extLst>
                </a:gridCol>
                <a:gridCol w="4153770">
                  <a:extLst>
                    <a:ext uri="{9D8B030D-6E8A-4147-A177-3AD203B41FA5}">
                      <a16:colId xmlns:a16="http://schemas.microsoft.com/office/drawing/2014/main" val="802155763"/>
                    </a:ext>
                  </a:extLst>
                </a:gridCol>
              </a:tblGrid>
              <a:tr h="415250">
                <a:tc>
                  <a:txBody>
                    <a:bodyPr/>
                    <a:lstStyle/>
                    <a:p>
                      <a:r>
                        <a:rPr lang="ru-RU" sz="1400" dirty="0"/>
                        <a:t>Команда </a:t>
                      </a:r>
                      <a:r>
                        <a:rPr lang="en-US" sz="1400" dirty="0"/>
                        <a:t>bash </a:t>
                      </a:r>
                      <a:r>
                        <a:rPr lang="ru-RU" sz="1400" dirty="0"/>
                        <a:t>в </a:t>
                      </a:r>
                      <a:r>
                        <a:rPr lang="en-US" sz="1400" dirty="0" err="1"/>
                        <a:t>linux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Описание и комментарии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886000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curl</a:t>
                      </a:r>
                      <a:r>
                        <a:rPr lang="ru-RU" sz="1400" dirty="0"/>
                        <a:t> -</a:t>
                      </a:r>
                      <a:r>
                        <a:rPr lang="en-US" sz="1400" dirty="0" err="1"/>
                        <a:t>fsSL</a:t>
                      </a:r>
                      <a:r>
                        <a:rPr lang="en-US" sz="1400" dirty="0"/>
                        <a:t> https</a:t>
                      </a:r>
                      <a:r>
                        <a:rPr lang="ru-RU" sz="1400" dirty="0"/>
                        <a:t>://</a:t>
                      </a:r>
                      <a:r>
                        <a:rPr lang="en-US" sz="1400" dirty="0" err="1"/>
                        <a:t>ollama</a:t>
                      </a:r>
                      <a:r>
                        <a:rPr lang="ru-RU" sz="1400" dirty="0"/>
                        <a:t>.</a:t>
                      </a:r>
                      <a:r>
                        <a:rPr lang="en-US" sz="1400" dirty="0"/>
                        <a:t>com</a:t>
                      </a:r>
                      <a:r>
                        <a:rPr lang="ru-RU" sz="1400" dirty="0"/>
                        <a:t>/</a:t>
                      </a:r>
                      <a:r>
                        <a:rPr lang="en-US" sz="1400" dirty="0"/>
                        <a:t>install</a:t>
                      </a:r>
                      <a:r>
                        <a:rPr lang="ru-RU" sz="1400" dirty="0"/>
                        <a:t>.</a:t>
                      </a:r>
                      <a:r>
                        <a:rPr lang="en-US" sz="1400" dirty="0" err="1"/>
                        <a:t>sh</a:t>
                      </a:r>
                      <a:r>
                        <a:rPr lang="ru-RU" sz="1400" dirty="0"/>
                        <a:t> | </a:t>
                      </a:r>
                      <a:r>
                        <a:rPr lang="en-US" sz="1400" dirty="0" err="1"/>
                        <a:t>sh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Загрузка и установка </a:t>
                      </a:r>
                      <a:r>
                        <a:rPr lang="en-US" sz="1400" dirty="0" err="1"/>
                        <a:t>Ollama</a:t>
                      </a:r>
                      <a:endParaRPr lang="ru-RU" sz="1400" dirty="0"/>
                    </a:p>
                    <a:p>
                      <a:r>
                        <a:rPr lang="ru-RU" sz="1400" dirty="0"/>
                        <a:t>Всегда разбирайтесь</a:t>
                      </a:r>
                      <a:r>
                        <a:rPr lang="ru-RU" sz="1400" baseline="0" dirty="0"/>
                        <a:t> с флагами и параметрами однострочных команд</a:t>
                      </a:r>
                    </a:p>
                    <a:p>
                      <a:r>
                        <a:rPr lang="ru-RU" sz="1400" baseline="0" dirty="0"/>
                        <a:t>Изучите содержимое </a:t>
                      </a:r>
                      <a:r>
                        <a:rPr lang="en-US" sz="1400" baseline="0" dirty="0"/>
                        <a:t>install.sh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376828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/>
                        <a:t>df –B G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Узнать</a:t>
                      </a:r>
                      <a:r>
                        <a:rPr lang="ru-RU" sz="1400" baseline="0" dirty="0"/>
                        <a:t> объем дисковой памяти в Гб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31658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sudo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systemctl</a:t>
                      </a:r>
                      <a:r>
                        <a:rPr lang="en-US" sz="1400" dirty="0"/>
                        <a:t> status </a:t>
                      </a:r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Проверить статус сервиса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96273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list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Список загруженных моделей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588039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pull qwen:0.5b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Загрузить модель </a:t>
                      </a:r>
                      <a:r>
                        <a:rPr lang="en-US" sz="1400" dirty="0"/>
                        <a:t>Qwen-0.5B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394514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run </a:t>
                      </a:r>
                      <a:r>
                        <a:rPr lang="en-US" sz="1400" dirty="0" err="1"/>
                        <a:t>qwen</a:t>
                      </a:r>
                      <a:r>
                        <a:rPr lang="ru-RU" sz="1400" dirty="0"/>
                        <a:t>3:8</a:t>
                      </a:r>
                      <a:r>
                        <a:rPr lang="en-US" sz="1400" dirty="0"/>
                        <a:t>b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Запуск модели</a:t>
                      </a:r>
                      <a:r>
                        <a:rPr lang="en-US" sz="1400" dirty="0"/>
                        <a:t> qwen3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731688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08C7DE-A6C5-4EFF-8417-AB351CF9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612" y="2938728"/>
            <a:ext cx="2781381" cy="14743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890A0-CF0B-4675-A82F-2BC8682E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612" y="4931266"/>
            <a:ext cx="29527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51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5066B-2054-4125-90F5-0E357673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использование </a:t>
            </a:r>
            <a:r>
              <a:rPr lang="en-US" baseline="0" dirty="0" err="1"/>
              <a:t>vllm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17F07D-950E-43E8-9389-DE42F89CC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465"/>
            <a:ext cx="10515600" cy="1997228"/>
          </a:xfrm>
        </p:spPr>
        <p:txBody>
          <a:bodyPr/>
          <a:lstStyle/>
          <a:p>
            <a:r>
              <a:rPr lang="ru-RU" dirty="0"/>
              <a:t>Поддерживает </a:t>
            </a:r>
            <a:r>
              <a:rPr lang="en-US" dirty="0" err="1"/>
              <a:t>OpenAI</a:t>
            </a:r>
            <a:r>
              <a:rPr lang="ru-RU" dirty="0"/>
              <a:t>-совместимый </a:t>
            </a:r>
            <a:r>
              <a:rPr lang="en-US" dirty="0"/>
              <a:t>API</a:t>
            </a:r>
            <a:endParaRPr lang="ru-RU" dirty="0"/>
          </a:p>
          <a:p>
            <a:r>
              <a:rPr lang="en-US" dirty="0"/>
              <a:t>AWQ</a:t>
            </a:r>
            <a:r>
              <a:rPr lang="ru-RU" dirty="0"/>
              <a:t>-квантование сохраняет ~95% качества при 4-</a:t>
            </a:r>
            <a:r>
              <a:rPr lang="en-US" dirty="0"/>
              <a:t>bit</a:t>
            </a:r>
            <a:r>
              <a:rPr lang="ru-RU" dirty="0"/>
              <a:t> </a:t>
            </a:r>
          </a:p>
          <a:p>
            <a:r>
              <a:rPr lang="ru-RU" dirty="0"/>
              <a:t>Модели доступны на </a:t>
            </a:r>
            <a:r>
              <a:rPr lang="en-US" dirty="0"/>
              <a:t>Hugging Face Hub</a:t>
            </a:r>
            <a:r>
              <a:rPr lang="ru-RU" dirty="0"/>
              <a:t>: </a:t>
            </a:r>
            <a:r>
              <a:rPr lang="en-US" dirty="0" err="1"/>
              <a:t>Qwen</a:t>
            </a:r>
            <a:r>
              <a:rPr lang="ru-RU" dirty="0"/>
              <a:t>/</a:t>
            </a:r>
            <a:r>
              <a:rPr lang="en-US" dirty="0" err="1"/>
              <a:t>Qwen</a:t>
            </a:r>
            <a:r>
              <a:rPr lang="ru-RU" dirty="0"/>
              <a:t>3-8</a:t>
            </a:r>
            <a:r>
              <a:rPr lang="en-US" dirty="0"/>
              <a:t>B</a:t>
            </a:r>
            <a:r>
              <a:rPr lang="ru-RU" dirty="0"/>
              <a:t>-</a:t>
            </a:r>
            <a:r>
              <a:rPr lang="en-US" dirty="0"/>
              <a:t>AWQ</a:t>
            </a:r>
            <a:r>
              <a:rPr lang="ru-RU" dirty="0"/>
              <a:t>, </a:t>
            </a:r>
            <a:r>
              <a:rPr lang="en-US" dirty="0" err="1"/>
              <a:t>Qwen</a:t>
            </a:r>
            <a:r>
              <a:rPr lang="ru-RU" dirty="0"/>
              <a:t>/</a:t>
            </a:r>
            <a:r>
              <a:rPr lang="en-US" dirty="0" err="1"/>
              <a:t>Qwen</a:t>
            </a:r>
            <a:r>
              <a:rPr lang="ru-RU" dirty="0"/>
              <a:t>3-14</a:t>
            </a:r>
            <a:r>
              <a:rPr lang="en-US" dirty="0"/>
              <a:t>B</a:t>
            </a:r>
            <a:r>
              <a:rPr lang="ru-RU" dirty="0"/>
              <a:t>-</a:t>
            </a:r>
            <a:r>
              <a:rPr lang="en-US" dirty="0"/>
              <a:t>AWQ</a:t>
            </a:r>
            <a:r>
              <a:rPr lang="ru-RU" dirty="0"/>
              <a:t> (</a:t>
            </a:r>
            <a:r>
              <a:rPr lang="en-US" dirty="0"/>
              <a:t>huggingface.co</a:t>
            </a:r>
            <a:r>
              <a:rPr lang="ru-RU" dirty="0"/>
              <a:t>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D87342D-9398-4AB9-B5B4-ED0BE3018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86822"/>
              </p:ext>
            </p:extLst>
          </p:nvPr>
        </p:nvGraphicFramePr>
        <p:xfrm>
          <a:off x="838200" y="3608821"/>
          <a:ext cx="8128000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759729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27537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Команда </a:t>
                      </a:r>
                      <a:r>
                        <a:rPr lang="en-US" dirty="0"/>
                        <a:t>bash </a:t>
                      </a:r>
                      <a:r>
                        <a:rPr lang="ru-RU" dirty="0"/>
                        <a:t>в </a:t>
                      </a:r>
                      <a:r>
                        <a:rPr lang="en-US" dirty="0" err="1"/>
                        <a:t>linux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Описание, рекомендации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30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sudo</a:t>
                      </a:r>
                      <a:r>
                        <a:rPr lang="en-US" baseline="0" dirty="0"/>
                        <a:t> apt install python3-pip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Установить </a:t>
                      </a:r>
                      <a:r>
                        <a:rPr lang="en-US" dirty="0"/>
                        <a:t>python pip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917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 install "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vllm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&gt;=0.8.0"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35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-m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vllm.entrypoints.openai.api_server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\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--model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/Qwen3-8B-AWQ \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--quantization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awq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\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--port 8000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Запуск сервера с квантованной моделью (пример для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3-8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AWQ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28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71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CF4DD-5D3B-4CF4-B67B-81700F24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без </a:t>
            </a:r>
            <a:r>
              <a:rPr lang="en-US" dirty="0"/>
              <a:t>CPU</a:t>
            </a:r>
            <a:r>
              <a:rPr lang="ru-RU" dirty="0"/>
              <a:t> с </a:t>
            </a:r>
            <a:r>
              <a:rPr lang="en-US" dirty="0"/>
              <a:t>llama.cpp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AB52C6-23CA-41A6-820F-D686E60FA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42" y="1527043"/>
            <a:ext cx="5621357" cy="496583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3800" dirty="0"/>
              <a:t>Для тестирования без GPU можно использовать llama.cpp + GGUF </a:t>
            </a:r>
          </a:p>
          <a:p>
            <a:pPr marL="0" indent="0">
              <a:buNone/>
            </a:pPr>
            <a:r>
              <a:rPr lang="ru-RU" b="1" dirty="0"/>
              <a:t>Шаг 1: Выберите квантованную модель в формате GGUF</a:t>
            </a:r>
          </a:p>
          <a:p>
            <a:r>
              <a:rPr lang="ru-RU" dirty="0" err="1"/>
              <a:t>Hugging</a:t>
            </a:r>
            <a:r>
              <a:rPr lang="ru-RU" dirty="0"/>
              <a:t> </a:t>
            </a:r>
            <a:r>
              <a:rPr lang="ru-RU" dirty="0" err="1"/>
              <a:t>Face</a:t>
            </a:r>
            <a:r>
              <a:rPr lang="ru-RU" dirty="0"/>
              <a:t> </a:t>
            </a:r>
            <a:r>
              <a:rPr lang="ru-RU" dirty="0" err="1"/>
              <a:t>Hub</a:t>
            </a:r>
            <a:r>
              <a:rPr lang="ru-RU" dirty="0"/>
              <a:t>: </a:t>
            </a:r>
            <a:r>
              <a:rPr lang="ru-RU" dirty="0" err="1"/>
              <a:t>Qwen</a:t>
            </a:r>
            <a:r>
              <a:rPr lang="ru-RU" dirty="0"/>
              <a:t>/Qwen3-8B-GGUF → файл qwen3-8b-Q4_K_M.gguf (~4.7 ГБ)</a:t>
            </a:r>
          </a:p>
          <a:p>
            <a:r>
              <a:rPr lang="ru-RU" dirty="0" err="1"/>
              <a:t>TheBloke</a:t>
            </a:r>
            <a:r>
              <a:rPr lang="ru-RU" dirty="0"/>
              <a:t> (популярный </a:t>
            </a:r>
            <a:r>
              <a:rPr lang="ru-RU" dirty="0" err="1"/>
              <a:t>квантовщик</a:t>
            </a:r>
            <a:r>
              <a:rPr lang="ru-RU" dirty="0"/>
              <a:t>): </a:t>
            </a:r>
            <a:r>
              <a:rPr lang="ru-RU" dirty="0" err="1"/>
              <a:t>TheBloke</a:t>
            </a:r>
            <a:r>
              <a:rPr lang="ru-RU" dirty="0"/>
              <a:t>/Qwen3-8B-GGUF</a:t>
            </a:r>
          </a:p>
          <a:p>
            <a:r>
              <a:rPr lang="ru-RU" dirty="0"/>
              <a:t>Q4_K_M — лучший баланс скорости и качества для CPU </a:t>
            </a:r>
          </a:p>
          <a:p>
            <a:pPr marL="0" indent="0">
              <a:buNone/>
            </a:pPr>
            <a:r>
              <a:rPr lang="ru-RU" b="1" dirty="0"/>
              <a:t>Шаг 2 </a:t>
            </a:r>
            <a:r>
              <a:rPr lang="en-US" b="1" dirty="0"/>
              <a:t>llama</a:t>
            </a:r>
            <a:r>
              <a:rPr lang="ru-RU" b="1" dirty="0"/>
              <a:t>.</a:t>
            </a:r>
            <a:r>
              <a:rPr lang="en-US" b="1" dirty="0" err="1"/>
              <a:t>cpp</a:t>
            </a:r>
            <a:endParaRPr lang="ru-RU" b="1" dirty="0"/>
          </a:p>
          <a:p>
            <a:r>
              <a:rPr lang="en-US" dirty="0"/>
              <a:t>git clone https</a:t>
            </a:r>
            <a:r>
              <a:rPr lang="ru-RU" dirty="0"/>
              <a:t>://</a:t>
            </a:r>
            <a:r>
              <a:rPr lang="en-US" dirty="0" err="1"/>
              <a:t>github</a:t>
            </a:r>
            <a:r>
              <a:rPr lang="ru-RU" dirty="0"/>
              <a:t>.</a:t>
            </a:r>
            <a:r>
              <a:rPr lang="en-US" dirty="0"/>
              <a:t>com</a:t>
            </a:r>
            <a:r>
              <a:rPr lang="ru-RU" dirty="0"/>
              <a:t>/</a:t>
            </a:r>
            <a:r>
              <a:rPr lang="en-US" dirty="0" err="1"/>
              <a:t>ggerganov</a:t>
            </a:r>
            <a:r>
              <a:rPr lang="ru-RU" dirty="0"/>
              <a:t>/</a:t>
            </a:r>
            <a:r>
              <a:rPr lang="en-US" dirty="0"/>
              <a:t>llama</a:t>
            </a:r>
            <a:r>
              <a:rPr lang="ru-RU" dirty="0"/>
              <a:t>.</a:t>
            </a:r>
            <a:r>
              <a:rPr lang="en-US" dirty="0" err="1"/>
              <a:t>cpp</a:t>
            </a:r>
            <a:r>
              <a:rPr lang="ru-RU" dirty="0"/>
              <a:t> &amp;&amp; </a:t>
            </a:r>
            <a:r>
              <a:rPr lang="en-US" dirty="0"/>
              <a:t>cd llama</a:t>
            </a:r>
            <a:r>
              <a:rPr lang="ru-RU" dirty="0"/>
              <a:t>.</a:t>
            </a:r>
            <a:r>
              <a:rPr lang="en-US" dirty="0" err="1"/>
              <a:t>cpp</a:t>
            </a:r>
            <a:endParaRPr lang="ru-RU" dirty="0"/>
          </a:p>
          <a:p>
            <a:r>
              <a:rPr lang="en-US" dirty="0"/>
              <a:t>make -j LLAMA_AVX=1 LLAMA_AVX2=1 LLAMA_FMA=1</a:t>
            </a:r>
            <a:endParaRPr lang="ru-RU" dirty="0"/>
          </a:p>
          <a:p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ru-RU" dirty="0" err="1"/>
              <a:t>llama-cpp-python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b="1" dirty="0"/>
              <a:t>Шаг 3: запуск через </a:t>
            </a:r>
            <a:r>
              <a:rPr lang="en-US" b="1" dirty="0"/>
              <a:t>llama</a:t>
            </a:r>
            <a:r>
              <a:rPr lang="ru-RU" b="1" dirty="0"/>
              <a:t>.</a:t>
            </a:r>
            <a:r>
              <a:rPr lang="en-US" b="1" dirty="0" err="1"/>
              <a:t>cpp</a:t>
            </a:r>
            <a:endParaRPr lang="ru-RU" b="1" dirty="0"/>
          </a:p>
          <a:p>
            <a:r>
              <a:rPr lang="en-US" dirty="0"/>
              <a:t>./main -m ./qwen3-8b-Q4_K_M.gguf \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ru-RU" dirty="0"/>
              <a:t>-p "Привет! Расскажи о себе." \</a:t>
            </a:r>
          </a:p>
          <a:p>
            <a:pPr marL="0" indent="0">
              <a:buNone/>
            </a:pPr>
            <a:r>
              <a:rPr lang="ru-RU" dirty="0"/>
              <a:t>     -n 256 \</a:t>
            </a:r>
          </a:p>
          <a:p>
            <a:pPr marL="0" indent="0">
              <a:buNone/>
            </a:pPr>
            <a:r>
              <a:rPr lang="ru-RU" dirty="0"/>
              <a:t>     -t 8 \</a:t>
            </a:r>
          </a:p>
          <a:p>
            <a:pPr marL="0" indent="0">
              <a:buNone/>
            </a:pPr>
            <a:r>
              <a:rPr lang="ru-RU" dirty="0"/>
              <a:t>     --</a:t>
            </a:r>
            <a:r>
              <a:rPr lang="ru-RU" dirty="0" err="1"/>
              <a:t>temp</a:t>
            </a:r>
            <a:r>
              <a:rPr lang="ru-RU" dirty="0"/>
              <a:t> 0.7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A47F7CD-C5A6-4D3D-944E-51BFEF287C42}"/>
              </a:ext>
            </a:extLst>
          </p:cNvPr>
          <p:cNvSpPr/>
          <p:nvPr/>
        </p:nvSpPr>
        <p:spPr>
          <a:xfrm>
            <a:off x="6592677" y="1326155"/>
            <a:ext cx="530921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-t 8 — использовать 8 потоков CPU</a:t>
            </a:r>
          </a:p>
          <a:p>
            <a:r>
              <a:rPr lang="ru-RU" dirty="0"/>
              <a:t>-n 256 — сгенерировать до 256 токенов</a:t>
            </a:r>
          </a:p>
          <a:p>
            <a:r>
              <a:rPr lang="ru-RU" dirty="0"/>
              <a:t>--</a:t>
            </a:r>
            <a:r>
              <a:rPr lang="ru-RU" dirty="0" err="1"/>
              <a:t>threads</a:t>
            </a:r>
            <a:r>
              <a:rPr lang="ru-RU" dirty="0"/>
              <a:t> можно увеличить до числа логических ядер вашей ВМ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Советы для оптимизации на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Всегда используйте 4-bit квантование (Q4_K_M) — разница в качестве почти незаметна, а скорость выше на 40%.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Ограничьте длину контекста — добавьте флаг -c 2048 вместо полных 32К токенов.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Выделите ВМ с максимальным числом ядер — для облака лучше 8 ядер × 3 ГГц, чем 4 ядра × 4 ГГц.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Избегайте фоновых процессов — остановите ненужные сервисы для освобождения памяти.</a:t>
            </a:r>
          </a:p>
        </p:txBody>
      </p:sp>
    </p:spTree>
    <p:extLst>
      <p:ext uri="{BB962C8B-B14F-4D97-AF65-F5344CB8AC3E}">
        <p14:creationId xmlns:p14="http://schemas.microsoft.com/office/powerpoint/2010/main" val="32652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B5654-D123-4F5E-83B5-D99CEB9F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правильной версии интерпретатора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D3663D-F6A7-4C29-9A78-B592DB601F67}"/>
              </a:ext>
            </a:extLst>
          </p:cNvPr>
          <p:cNvSpPr/>
          <p:nvPr/>
        </p:nvSpPr>
        <p:spPr>
          <a:xfrm>
            <a:off x="966786" y="1856208"/>
            <a:ext cx="861788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Последние версии библиотек </a:t>
            </a:r>
            <a:r>
              <a:rPr lang="en-US" dirty="0"/>
              <a:t>python </a:t>
            </a:r>
            <a:r>
              <a:rPr lang="ru-RU" dirty="0"/>
              <a:t>для работы с ИИ</a:t>
            </a:r>
            <a:r>
              <a:rPr lang="en-US" dirty="0"/>
              <a:t> (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langchain</a:t>
            </a:r>
            <a:r>
              <a:rPr lang="en-US" dirty="0"/>
              <a:t>-community, </a:t>
            </a:r>
            <a:r>
              <a:rPr lang="en-US" dirty="0" err="1"/>
              <a:t>langchain</a:t>
            </a:r>
            <a:r>
              <a:rPr lang="en-US" dirty="0"/>
              <a:t>-core, </a:t>
            </a:r>
            <a:r>
              <a:rPr lang="en-US" dirty="0" err="1"/>
              <a:t>langchain-ollama</a:t>
            </a:r>
            <a:r>
              <a:rPr lang="en-US" dirty="0"/>
              <a:t> </a:t>
            </a:r>
            <a:r>
              <a:rPr lang="ru-RU" dirty="0"/>
              <a:t>и другие</a:t>
            </a:r>
            <a:r>
              <a:rPr lang="en-US" dirty="0"/>
              <a:t>)</a:t>
            </a:r>
            <a:r>
              <a:rPr lang="ru-RU" dirty="0"/>
              <a:t>, которые будут использоваться в лабораторных работах, работают только с последними версиями </a:t>
            </a:r>
            <a:r>
              <a:rPr lang="en-US" dirty="0"/>
              <a:t>python</a:t>
            </a:r>
          </a:p>
          <a:p>
            <a:endParaRPr lang="en-US" dirty="0"/>
          </a:p>
          <a:p>
            <a:r>
              <a:rPr lang="ru-RU" dirty="0"/>
              <a:t>Во избежание конфликта версий рекомендуется использовать </a:t>
            </a:r>
            <a:r>
              <a:rPr lang="en-US" dirty="0"/>
              <a:t>python 3.10+</a:t>
            </a:r>
          </a:p>
          <a:p>
            <a:r>
              <a:rPr lang="ru-RU" dirty="0"/>
              <a:t>Далее используется </a:t>
            </a:r>
            <a:r>
              <a:rPr lang="en-US" dirty="0"/>
              <a:t>Ubuntu 24.04, </a:t>
            </a:r>
            <a:r>
              <a:rPr lang="ru-RU" dirty="0"/>
              <a:t>в которой </a:t>
            </a:r>
            <a:r>
              <a:rPr lang="ru-RU" dirty="0" err="1"/>
              <a:t>предостановлен</a:t>
            </a:r>
            <a:r>
              <a:rPr lang="ru-RU" dirty="0"/>
              <a:t> </a:t>
            </a:r>
            <a:r>
              <a:rPr lang="en-US" dirty="0"/>
              <a:t>python3.12.</a:t>
            </a:r>
            <a:endParaRPr lang="ru-RU" dirty="0"/>
          </a:p>
          <a:p>
            <a:endParaRPr lang="ru-RU" dirty="0"/>
          </a:p>
          <a:p>
            <a:r>
              <a:rPr lang="ru-RU" dirty="0"/>
              <a:t>Если Вы планируете использовать другую ОС, то необходимо установить интерпретатор </a:t>
            </a:r>
            <a:r>
              <a:rPr lang="en-US" dirty="0"/>
              <a:t>python </a:t>
            </a:r>
            <a:r>
              <a:rPr lang="ru-RU" dirty="0"/>
              <a:t>версии не ниже 3.10.</a:t>
            </a:r>
          </a:p>
          <a:p>
            <a:r>
              <a:rPr lang="ru-RU" dirty="0"/>
              <a:t>Важно, что не все версии </a:t>
            </a:r>
            <a:r>
              <a:rPr lang="en-US" dirty="0"/>
              <a:t>python </a:t>
            </a:r>
            <a:r>
              <a:rPr lang="ru-RU" dirty="0"/>
              <a:t>поддерживаются в конкретной версии ОС, см. например таблицу соответствия для ОС </a:t>
            </a:r>
            <a:r>
              <a:rPr lang="en-US" dirty="0"/>
              <a:t>Ubuntu</a:t>
            </a:r>
          </a:p>
          <a:p>
            <a:r>
              <a:rPr lang="en-US" dirty="0">
                <a:hlinkClick r:id="rId2"/>
              </a:rPr>
              <a:t>https://documentation.ubuntu.com/ubuntu-for-developers/reference/availability/python/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7370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B5654-D123-4F5E-83B5-D99CEB9F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виртуального окружения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D3663D-F6A7-4C29-9A78-B592DB601F67}"/>
              </a:ext>
            </a:extLst>
          </p:cNvPr>
          <p:cNvSpPr/>
          <p:nvPr/>
        </p:nvSpPr>
        <p:spPr>
          <a:xfrm>
            <a:off x="966786" y="1856208"/>
            <a:ext cx="9968498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Виртуальное окружение позволяет </a:t>
            </a:r>
            <a:r>
              <a:rPr lang="ru-RU" dirty="0" err="1"/>
              <a:t>програмно</a:t>
            </a:r>
            <a:r>
              <a:rPr lang="ru-RU" dirty="0"/>
              <a:t> изолировать окружение</a:t>
            </a:r>
          </a:p>
          <a:p>
            <a:r>
              <a:rPr lang="ru-RU" dirty="0"/>
              <a:t>Популярные инструменты: </a:t>
            </a:r>
            <a:r>
              <a:rPr lang="en-US" dirty="0" err="1"/>
              <a:t>venv</a:t>
            </a:r>
            <a:r>
              <a:rPr lang="en-US" dirty="0"/>
              <a:t>, poetry</a:t>
            </a:r>
            <a:r>
              <a:rPr lang="ru-RU" dirty="0"/>
              <a:t>, </a:t>
            </a:r>
            <a:r>
              <a:rPr lang="en-US" dirty="0" err="1"/>
              <a:t>conda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в примерах используется </a:t>
            </a:r>
            <a:r>
              <a:rPr lang="en-US" dirty="0" err="1"/>
              <a:t>venv</a:t>
            </a:r>
            <a:endParaRPr lang="en-US" dirty="0"/>
          </a:p>
          <a:p>
            <a:r>
              <a:rPr lang="ru-RU" dirty="0"/>
              <a:t>Как правило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ru-RU" dirty="0"/>
              <a:t>не является предустановленным, требуется установка, например, для </a:t>
            </a:r>
            <a:r>
              <a:rPr lang="en-US" dirty="0"/>
              <a:t>python3.12</a:t>
            </a:r>
          </a:p>
          <a:p>
            <a:r>
              <a:rPr lang="en-US" dirty="0"/>
              <a:t> apt install python3.12-venv</a:t>
            </a:r>
          </a:p>
          <a:p>
            <a:endParaRPr lang="en-US" dirty="0"/>
          </a:p>
          <a:p>
            <a:r>
              <a:rPr lang="ru-RU" dirty="0"/>
              <a:t>Создать виртуальное окружение: </a:t>
            </a:r>
            <a:r>
              <a:rPr lang="en-US" dirty="0"/>
              <a:t>python3 –m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r>
              <a:rPr lang="ru-RU" dirty="0"/>
              <a:t>Активировать: </a:t>
            </a:r>
            <a:r>
              <a:rPr lang="en-US" dirty="0"/>
              <a:t>source ./</a:t>
            </a:r>
            <a:r>
              <a:rPr lang="en-US" dirty="0" err="1"/>
              <a:t>venv</a:t>
            </a:r>
            <a:r>
              <a:rPr lang="en-US" dirty="0"/>
              <a:t>/bin/activate</a:t>
            </a:r>
          </a:p>
          <a:p>
            <a:r>
              <a:rPr lang="ru-RU" dirty="0"/>
              <a:t>Деактивировать: </a:t>
            </a:r>
            <a:r>
              <a:rPr lang="en-US" dirty="0"/>
              <a:t>deactivate</a:t>
            </a:r>
          </a:p>
          <a:p>
            <a:endParaRPr lang="en-US" dirty="0"/>
          </a:p>
          <a:p>
            <a:r>
              <a:rPr lang="ru-RU" dirty="0"/>
              <a:t>После активации нет установленных </a:t>
            </a:r>
            <a:r>
              <a:rPr lang="en-US" dirty="0"/>
              <a:t>python </a:t>
            </a:r>
            <a:r>
              <a:rPr lang="ru-RU" dirty="0"/>
              <a:t>библиотек: </a:t>
            </a:r>
            <a:r>
              <a:rPr lang="en-US" dirty="0"/>
              <a:t>pip freeze</a:t>
            </a:r>
          </a:p>
          <a:p>
            <a:r>
              <a:rPr lang="ru-RU" dirty="0"/>
              <a:t>Можно устанавливать </a:t>
            </a:r>
            <a:r>
              <a:rPr lang="en-US" dirty="0"/>
              <a:t>pip install </a:t>
            </a:r>
            <a:r>
              <a:rPr lang="en-US" dirty="0" err="1"/>
              <a:t>jq</a:t>
            </a:r>
            <a:endParaRPr lang="en-US" dirty="0"/>
          </a:p>
          <a:p>
            <a:r>
              <a:rPr lang="ru-RU" dirty="0"/>
              <a:t>Рекомендуется обновить установщик: </a:t>
            </a:r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--</a:t>
            </a:r>
            <a:r>
              <a:rPr lang="ru-RU" dirty="0" err="1"/>
              <a:t>upgrade</a:t>
            </a:r>
            <a:r>
              <a:rPr lang="ru-RU" dirty="0"/>
              <a:t> </a:t>
            </a:r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setuptools</a:t>
            </a:r>
            <a:r>
              <a:rPr lang="ru-RU" dirty="0"/>
              <a:t> </a:t>
            </a:r>
            <a:r>
              <a:rPr lang="ru-RU" dirty="0" err="1"/>
              <a:t>wheel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8035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84650-FBCB-45BE-BCD5-BE3CC7E9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настройка </a:t>
            </a:r>
            <a:r>
              <a:rPr lang="en-US" baseline="0" dirty="0" err="1"/>
              <a:t>Jupyter</a:t>
            </a:r>
            <a:r>
              <a:rPr lang="en-US" baseline="0" dirty="0"/>
              <a:t> </a:t>
            </a:r>
            <a:r>
              <a:rPr lang="ru-RU" baseline="0" dirty="0"/>
              <a:t>окружения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7E099E-1DB2-47C0-A53E-0312B52DB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85" y="1373935"/>
            <a:ext cx="11089396" cy="2283665"/>
          </a:xfrm>
        </p:spPr>
        <p:txBody>
          <a:bodyPr>
            <a:normAutofit/>
          </a:bodyPr>
          <a:lstStyle/>
          <a:p>
            <a:r>
              <a:rPr lang="ru-RU" sz="2000" dirty="0"/>
              <a:t>Все последующие практические задания в данном курсе «Безопасность генеративного ИИ» будут оформляться в виде</a:t>
            </a:r>
            <a:r>
              <a:rPr lang="en-US" sz="2000" dirty="0"/>
              <a:t> </a:t>
            </a:r>
            <a:r>
              <a:rPr lang="en-US" sz="2000" dirty="0" err="1"/>
              <a:t>jupyter</a:t>
            </a:r>
            <a:r>
              <a:rPr lang="en-US" sz="2000" dirty="0"/>
              <a:t>-</a:t>
            </a:r>
            <a:r>
              <a:rPr lang="ru-RU" sz="2000" dirty="0"/>
              <a:t>ноутбуков</a:t>
            </a:r>
          </a:p>
          <a:p>
            <a:r>
              <a:rPr lang="en-US" sz="2000" dirty="0" err="1"/>
              <a:t>Jupyter</a:t>
            </a:r>
            <a:r>
              <a:rPr lang="en-US" sz="2000" dirty="0"/>
              <a:t> </a:t>
            </a:r>
            <a:r>
              <a:rPr lang="ru-RU" sz="2000" dirty="0"/>
              <a:t>представляет развитую экосистему различных инструментов, подробности можно изучить на официальном сайте </a:t>
            </a:r>
            <a:r>
              <a:rPr lang="en-US" sz="2000" dirty="0">
                <a:hlinkClick r:id="rId2"/>
              </a:rPr>
              <a:t>https://jupyter.org</a:t>
            </a:r>
            <a:endParaRPr lang="ru-RU" sz="2000" dirty="0"/>
          </a:p>
          <a:p>
            <a:r>
              <a:rPr lang="en-US" sz="2000" dirty="0" err="1"/>
              <a:t>Jupyter</a:t>
            </a:r>
            <a:r>
              <a:rPr lang="en-US" sz="2000" dirty="0"/>
              <a:t> </a:t>
            </a:r>
            <a:r>
              <a:rPr lang="ru-RU" sz="2000" dirty="0"/>
              <a:t>сервер будет входить в состав виртуального окружения (</a:t>
            </a:r>
            <a:r>
              <a:rPr lang="en-US" sz="2000" dirty="0" err="1"/>
              <a:t>venv</a:t>
            </a:r>
            <a:r>
              <a:rPr lang="ru-RU" sz="2000" dirty="0"/>
              <a:t>)</a:t>
            </a:r>
            <a:r>
              <a:rPr lang="en-US" sz="2000" dirty="0"/>
              <a:t> </a:t>
            </a:r>
            <a:r>
              <a:rPr lang="ru-RU" sz="2000" dirty="0"/>
              <a:t>для практических задач, он будет описан в файле </a:t>
            </a:r>
            <a:r>
              <a:rPr lang="en-US" sz="2000" dirty="0"/>
              <a:t>requirements.txt, </a:t>
            </a:r>
            <a:r>
              <a:rPr lang="ru-RU" sz="2000" dirty="0"/>
              <a:t>но для отдельных самостоятельных установок рекомендуется версия 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63D200E-2280-4BAB-BB6F-656563864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395606"/>
              </p:ext>
            </p:extLst>
          </p:nvPr>
        </p:nvGraphicFramePr>
        <p:xfrm>
          <a:off x="654585" y="3786313"/>
          <a:ext cx="10152962" cy="2716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121">
                  <a:extLst>
                    <a:ext uri="{9D8B030D-6E8A-4147-A177-3AD203B41FA5}">
                      <a16:colId xmlns:a16="http://schemas.microsoft.com/office/drawing/2014/main" val="3873585598"/>
                    </a:ext>
                  </a:extLst>
                </a:gridCol>
                <a:gridCol w="7733841">
                  <a:extLst>
                    <a:ext uri="{9D8B030D-6E8A-4147-A177-3AD203B41FA5}">
                      <a16:colId xmlns:a16="http://schemas.microsoft.com/office/drawing/2014/main" val="2297921898"/>
                    </a:ext>
                  </a:extLst>
                </a:gridCol>
              </a:tblGrid>
              <a:tr h="478936">
                <a:tc>
                  <a:txBody>
                    <a:bodyPr/>
                    <a:lstStyle/>
                    <a:p>
                      <a:r>
                        <a:rPr lang="ru-RU" dirty="0"/>
                        <a:t>Команда в </a:t>
                      </a:r>
                      <a:r>
                        <a:rPr lang="en-US" dirty="0" err="1"/>
                        <a:t>linux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795217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r>
                        <a:rPr lang="en-US" dirty="0"/>
                        <a:t>python3</a:t>
                      </a:r>
                      <a:r>
                        <a:rPr lang="en-US" baseline="0" dirty="0"/>
                        <a:t> –m </a:t>
                      </a:r>
                      <a:r>
                        <a:rPr lang="en-US" baseline="0" dirty="0" err="1"/>
                        <a:t>venv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venv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. ./</a:t>
                      </a:r>
                      <a:r>
                        <a:rPr lang="en-US" baseline="0" dirty="0" err="1"/>
                        <a:t>venv</a:t>
                      </a:r>
                      <a:r>
                        <a:rPr lang="en-US" baseline="0" dirty="0"/>
                        <a:t>/bin/activate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Создать и активировать виртуальное окружение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259203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r>
                        <a:rPr lang="en-US" dirty="0"/>
                        <a:t>pip</a:t>
                      </a:r>
                      <a:r>
                        <a:rPr lang="en-US" baseline="0" dirty="0"/>
                        <a:t> install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Установить ПО для работы с </a:t>
                      </a:r>
                      <a:r>
                        <a:rPr lang="en-US" dirty="0" err="1"/>
                        <a:t>jupyter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ноутбуками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071960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r>
                        <a:rPr lang="en-US" dirty="0"/>
                        <a:t>pip install voila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Установить ПО для создания интерактивных </a:t>
                      </a:r>
                      <a:r>
                        <a:rPr lang="ru-RU" dirty="0" err="1"/>
                        <a:t>дашбордов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651647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/>
                        <a:t>jupyter</a:t>
                      </a:r>
                      <a:r>
                        <a:rPr lang="en-US" baseline="0" dirty="0"/>
                        <a:t> notebook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Запустить сервис для работы с </a:t>
                      </a:r>
                      <a:r>
                        <a:rPr lang="en-US" dirty="0" err="1"/>
                        <a:t>jupyter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ноутбуками</a:t>
                      </a:r>
                      <a:r>
                        <a:rPr lang="en-US" dirty="0"/>
                        <a:t> (</a:t>
                      </a:r>
                      <a:r>
                        <a:rPr lang="ru-RU" dirty="0"/>
                        <a:t>доступен на </a:t>
                      </a:r>
                      <a:r>
                        <a:rPr lang="en-US" dirty="0"/>
                        <a:t>http://localhost:8888/</a:t>
                      </a:r>
                      <a:r>
                        <a:rPr lang="en-US" dirty="0" err="1"/>
                        <a:t>tree&amp;token</a:t>
                      </a:r>
                      <a:r>
                        <a:rPr lang="en-US" dirty="0"/>
                        <a:t>=“</a:t>
                      </a:r>
                      <a:r>
                        <a:rPr lang="ru-RU" dirty="0"/>
                        <a:t>номер вашего токена</a:t>
                      </a:r>
                      <a:r>
                        <a:rPr lang="en-US" dirty="0"/>
                        <a:t>”)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2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255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1ADC7-604B-4EB2-A81D-77198570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настройка </a:t>
            </a:r>
            <a:r>
              <a:rPr lang="en-US" baseline="0" dirty="0" err="1"/>
              <a:t>vscode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D16C24-39E3-4F99-8303-56168597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1414" cy="4351338"/>
          </a:xfrm>
        </p:spPr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snap install --classic code</a:t>
            </a:r>
          </a:p>
          <a:p>
            <a:r>
              <a:rPr lang="ru-RU" dirty="0"/>
              <a:t>Запуск </a:t>
            </a:r>
            <a:r>
              <a:rPr lang="en-US" dirty="0" err="1"/>
              <a:t>VSCode</a:t>
            </a:r>
            <a:r>
              <a:rPr lang="en-US" dirty="0"/>
              <a:t>: code</a:t>
            </a:r>
          </a:p>
          <a:p>
            <a:r>
              <a:rPr lang="ru-RU" dirty="0"/>
              <a:t>Настройка </a:t>
            </a:r>
            <a:r>
              <a:rPr lang="en-US" dirty="0" err="1"/>
              <a:t>ssh</a:t>
            </a:r>
            <a:endParaRPr lang="en-US" dirty="0"/>
          </a:p>
          <a:p>
            <a:r>
              <a:rPr lang="ru-RU" dirty="0"/>
              <a:t>Выбор папки, редактирование, удаленное выполнение кода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650346-2619-4883-BE63-CAFC2795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958" y="1916518"/>
            <a:ext cx="2808842" cy="220573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EF1336-0534-4EC8-BAA4-B135684EB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261" y="3045927"/>
            <a:ext cx="400050" cy="10763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046080-BE29-404B-B32F-27D4FCEB4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070" y="4258853"/>
            <a:ext cx="4776730" cy="7149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96F197-A136-4C24-A1E8-4E323F7A3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929" y="5292725"/>
            <a:ext cx="2638425" cy="12001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247D2A-A65C-4821-97C6-01B2442CB4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94" y="4403905"/>
            <a:ext cx="51720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28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35E00-5F9F-42E8-B0E8-81293BBC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и использование средств мониторинга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BED42F-BA07-43FC-9D96-568A03CA1F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4141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top, </a:t>
            </a:r>
            <a:r>
              <a:rPr lang="en-US" dirty="0" err="1"/>
              <a:t>htop</a:t>
            </a:r>
            <a:endParaRPr lang="en-US" dirty="0"/>
          </a:p>
          <a:p>
            <a:r>
              <a:rPr lang="en-US" dirty="0" err="1"/>
              <a:t>nvidia-smi</a:t>
            </a:r>
            <a:endParaRPr lang="en-US" dirty="0"/>
          </a:p>
          <a:p>
            <a:r>
              <a:rPr lang="en-US" dirty="0"/>
              <a:t>ss, netstat</a:t>
            </a:r>
          </a:p>
          <a:p>
            <a:r>
              <a:rPr lang="en-US" dirty="0"/>
              <a:t>curl, </a:t>
            </a:r>
            <a:r>
              <a:rPr lang="en-US" dirty="0" err="1"/>
              <a:t>wget</a:t>
            </a:r>
            <a:endParaRPr lang="en-US" dirty="0"/>
          </a:p>
          <a:p>
            <a:r>
              <a:rPr lang="en-US" dirty="0" err="1"/>
              <a:t>wireshark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869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2606A-B4CC-41AD-9DF5-DE280CF6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58330" cy="1325563"/>
          </a:xfrm>
        </p:spPr>
        <p:txBody>
          <a:bodyPr/>
          <a:lstStyle/>
          <a:p>
            <a:r>
              <a:rPr lang="ru-RU" dirty="0"/>
              <a:t>Работа</a:t>
            </a:r>
            <a:r>
              <a:rPr lang="ru-RU" baseline="0" dirty="0"/>
              <a:t> с библиотекой </a:t>
            </a:r>
            <a:r>
              <a:rPr lang="en-US" baseline="0" dirty="0" err="1"/>
              <a:t>langchain</a:t>
            </a:r>
            <a:r>
              <a:rPr lang="ru-RU" baseline="0" dirty="0"/>
              <a:t> (настройка окружения)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9CBD1-5330-4765-B81F-89B020C73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1713" cy="1093845"/>
          </a:xfrm>
        </p:spPr>
        <p:txBody>
          <a:bodyPr/>
          <a:lstStyle/>
          <a:p>
            <a:r>
              <a:rPr lang="ru-RU" dirty="0"/>
              <a:t>Библиотека </a:t>
            </a:r>
            <a:r>
              <a:rPr lang="en-US" dirty="0" err="1"/>
              <a:t>langchain</a:t>
            </a:r>
            <a:r>
              <a:rPr lang="en-US" dirty="0"/>
              <a:t> </a:t>
            </a:r>
            <a:r>
              <a:rPr lang="ru-RU" dirty="0"/>
              <a:t>создана и развивается для решения прикладных задач взаимодействия с </a:t>
            </a:r>
            <a:r>
              <a:rPr lang="en-US" dirty="0"/>
              <a:t>LLM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FB96BFF-2E88-4B37-B036-6806EE4F1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246296"/>
              </p:ext>
            </p:extLst>
          </p:nvPr>
        </p:nvGraphicFramePr>
        <p:xfrm>
          <a:off x="919297" y="3264562"/>
          <a:ext cx="9689946" cy="330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4973">
                  <a:extLst>
                    <a:ext uri="{9D8B030D-6E8A-4147-A177-3AD203B41FA5}">
                      <a16:colId xmlns:a16="http://schemas.microsoft.com/office/drawing/2014/main" val="730548184"/>
                    </a:ext>
                  </a:extLst>
                </a:gridCol>
                <a:gridCol w="4844973">
                  <a:extLst>
                    <a:ext uri="{9D8B030D-6E8A-4147-A177-3AD203B41FA5}">
                      <a16:colId xmlns:a16="http://schemas.microsoft.com/office/drawing/2014/main" val="2798390519"/>
                    </a:ext>
                  </a:extLst>
                </a:gridCol>
              </a:tblGrid>
              <a:tr h="554536">
                <a:tc>
                  <a:txBody>
                    <a:bodyPr/>
                    <a:lstStyle/>
                    <a:p>
                      <a:r>
                        <a:rPr lang="ru-RU" dirty="0"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625889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-core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-community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Установка базового пакета и основных компонентов</a:t>
                      </a:r>
                    </a:p>
                    <a:p>
                      <a:r>
                        <a:rPr lang="en-US" dirty="0"/>
                        <a:t>!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-classic </a:t>
                      </a:r>
                      <a:r>
                        <a:rPr lang="ru-RU" dirty="0"/>
                        <a:t>требует </a:t>
                      </a:r>
                      <a:r>
                        <a:rPr lang="en-US" dirty="0"/>
                        <a:t>python&gt;=3.10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603620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langchain-ollama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Ранее мы установили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, </a:t>
                      </a:r>
                      <a:r>
                        <a:rPr lang="ru-RU" dirty="0"/>
                        <a:t>установим соответствующую библиотеку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366222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langchain-huggingface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730800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chromadb</a:t>
                      </a:r>
                      <a:r>
                        <a:rPr lang="en-US" dirty="0"/>
                        <a:t> sentence-transformers python-</a:t>
                      </a:r>
                      <a:r>
                        <a:rPr lang="en-US" dirty="0" err="1"/>
                        <a:t>dotenv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19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225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A2F0B-BB9A-4934-B704-37EEF8E0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библиотекой </a:t>
            </a:r>
            <a:r>
              <a:rPr lang="en-US" dirty="0" err="1"/>
              <a:t>langchain</a:t>
            </a:r>
            <a:r>
              <a:rPr lang="en-US" dirty="0"/>
              <a:t> (</a:t>
            </a:r>
            <a:r>
              <a:rPr lang="ru-RU" dirty="0"/>
              <a:t>использование, базовый вызов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BC204B-E73C-4CDF-87D7-672507F2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1222"/>
            <a:ext cx="10208964" cy="463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31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85EBE-EA93-4090-B01F-DA2E4941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</a:t>
            </a:r>
            <a:r>
              <a:rPr lang="ru-RU" baseline="0" dirty="0"/>
              <a:t> </a:t>
            </a:r>
            <a:r>
              <a:rPr lang="ru-RU" dirty="0"/>
              <a:t>с библиотекой </a:t>
            </a:r>
            <a:r>
              <a:rPr lang="en-US" dirty="0" err="1"/>
              <a:t>langchain</a:t>
            </a:r>
            <a:r>
              <a:rPr lang="en-US" dirty="0"/>
              <a:t> </a:t>
            </a:r>
            <a:r>
              <a:rPr lang="ru-RU" dirty="0"/>
              <a:t>(использование,</a:t>
            </a:r>
            <a:r>
              <a:rPr lang="ru-RU" baseline="0" dirty="0"/>
              <a:t> цепочка вызовов)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C0D7E4-1E38-44E6-B823-D9E27AD4D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38" y="2074614"/>
            <a:ext cx="11619123" cy="403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53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2720D-919F-4B17-A7B6-CB7F2F9B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RAG </a:t>
            </a:r>
            <a:r>
              <a:rPr lang="ru-RU" baseline="0" dirty="0"/>
              <a:t>архитектуры (настройка окружения)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4B3C42-B05D-4A9D-8BA8-1443B098CB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7503" y="1597730"/>
            <a:ext cx="10746442" cy="3662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altLang="ru-RU" dirty="0">
                <a:latin typeface="+mn-lt"/>
              </a:rPr>
              <a:t>Приведены рекомендуемые версии библиотек, проверенные на отсутствие конфликта версий</a:t>
            </a:r>
            <a:endParaRPr lang="en-US" altLang="ru-RU" dirty="0"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ru-RU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ru-RU" altLang="ru-RU" dirty="0" err="1">
                <a:latin typeface="+mn-lt"/>
              </a:rPr>
              <a:t>pip</a:t>
            </a:r>
            <a:r>
              <a:rPr lang="ru-RU" altLang="ru-RU" dirty="0">
                <a:latin typeface="+mn-lt"/>
              </a:rPr>
              <a:t> </a:t>
            </a:r>
            <a:r>
              <a:rPr lang="ru-RU" altLang="ru-RU" dirty="0" err="1">
                <a:latin typeface="+mn-lt"/>
              </a:rPr>
              <a:t>install</a:t>
            </a:r>
            <a:r>
              <a:rPr lang="ru-RU" altLang="ru-RU" dirty="0">
                <a:latin typeface="+mn-lt"/>
              </a:rPr>
              <a:t> </a:t>
            </a:r>
            <a:r>
              <a:rPr lang="ru-RU" altLang="ru-RU" dirty="0" err="1">
                <a:latin typeface="+mn-lt"/>
              </a:rPr>
              <a:t>langchain-huggingface</a:t>
            </a:r>
            <a:r>
              <a:rPr lang="ru-RU" altLang="ru-RU" dirty="0">
                <a:latin typeface="+mn-lt"/>
              </a:rPr>
              <a:t>==1.2.0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altLang="ru-RU" i="1" dirty="0">
                <a:latin typeface="+mn-lt"/>
              </a:rPr>
              <a:t>! Примечание: совместим с </a:t>
            </a:r>
            <a:r>
              <a:rPr lang="en-US" altLang="ru-RU" i="1" dirty="0" err="1">
                <a:latin typeface="+mn-lt"/>
              </a:rPr>
              <a:t>huggingface_hub</a:t>
            </a:r>
            <a:r>
              <a:rPr lang="en-US" altLang="ru-RU" i="1" dirty="0">
                <a:latin typeface="+mn-lt"/>
              </a:rPr>
              <a:t>==0.36.2</a:t>
            </a:r>
            <a:r>
              <a:rPr lang="ru-RU" altLang="ru-RU" i="1" dirty="0"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ru-RU" dirty="0">
                <a:latin typeface="+mn-lt"/>
              </a:rPr>
              <a:t>pip install </a:t>
            </a:r>
            <a:r>
              <a:rPr lang="ru-RU" altLang="ru-RU" dirty="0" err="1">
                <a:latin typeface="+mn-lt"/>
              </a:rPr>
              <a:t>sentence-transformers</a:t>
            </a:r>
            <a:r>
              <a:rPr lang="en-US" altLang="ru-RU" dirty="0">
                <a:latin typeface="+mn-lt"/>
              </a:rPr>
              <a:t>==5.2.2</a:t>
            </a:r>
            <a:endParaRPr lang="ru-RU" altLang="ru-RU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altLang="ru-RU" dirty="0">
                <a:latin typeface="+mn-lt"/>
              </a:rPr>
              <a:t>pip install </a:t>
            </a:r>
            <a:r>
              <a:rPr lang="en-US" altLang="ru-RU" dirty="0" err="1">
                <a:latin typeface="+mn-lt"/>
              </a:rPr>
              <a:t>langchain</a:t>
            </a:r>
            <a:r>
              <a:rPr lang="en-US" altLang="ru-RU">
                <a:latin typeface="+mn-lt"/>
              </a:rPr>
              <a:t>-chroma==1.1.0</a:t>
            </a:r>
            <a:endParaRPr lang="ru-RU" altLang="ru-RU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204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551E8-81AC-446E-8C20-DC4D85817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RAG </a:t>
            </a:r>
            <a:r>
              <a:rPr lang="ru-RU" dirty="0"/>
              <a:t>архитектуры (использование)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41A895-9DEA-4346-8D0E-3958727D7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657" y="1366092"/>
            <a:ext cx="6292107" cy="52394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1EF35F-2AA3-497A-90BC-0754C94BF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3" y="2657302"/>
            <a:ext cx="5148512" cy="26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54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173DF-7B2E-417B-9168-EB11F948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</a:t>
            </a:r>
            <a:r>
              <a:rPr lang="ru-RU" baseline="0" dirty="0"/>
              <a:t> </a:t>
            </a:r>
            <a:r>
              <a:rPr lang="en-US" baseline="0" dirty="0"/>
              <a:t>LLM </a:t>
            </a:r>
            <a:r>
              <a:rPr lang="ru-RU" baseline="0" dirty="0"/>
              <a:t>агента (настройка окружения)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F5B260-2833-4C02-9E2C-CB45A3040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25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7C240-6D09-4EB3-8EA7-6379AC0B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LLM </a:t>
            </a:r>
            <a:r>
              <a:rPr lang="ru-RU" dirty="0"/>
              <a:t>агента (использование)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4AA988-9EA1-4ED0-A6FA-3E8A5098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329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A4181-536A-4887-B535-E26865F0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настройка </a:t>
            </a:r>
            <a:r>
              <a:rPr lang="en-US" baseline="0" dirty="0"/>
              <a:t>Kali 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B820F0-0E7F-4816-B0EF-D9B897CC3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Установка: </a:t>
            </a:r>
            <a:r>
              <a:rPr lang="en-US" dirty="0"/>
              <a:t>https://www.kali.org/get-kali/#kali-platforms</a:t>
            </a:r>
          </a:p>
          <a:p>
            <a:r>
              <a:rPr lang="ru-RU" dirty="0"/>
              <a:t>Популярные инструменты анализа защищенности в </a:t>
            </a:r>
            <a:r>
              <a:rPr lang="en-US" dirty="0"/>
              <a:t>kali:</a:t>
            </a:r>
          </a:p>
          <a:p>
            <a:pPr lvl="1"/>
            <a:r>
              <a:rPr lang="en-US" dirty="0"/>
              <a:t>Nmap –</a:t>
            </a:r>
            <a:r>
              <a:rPr lang="ru-RU" dirty="0"/>
              <a:t> продвинутый сканер анализируемой системы, поиск портов, сервисов, уязвимых версий ПО</a:t>
            </a:r>
          </a:p>
          <a:p>
            <a:pPr lvl="1"/>
            <a:r>
              <a:rPr lang="en-US" dirty="0" err="1"/>
              <a:t>Metsploit</a:t>
            </a:r>
            <a:r>
              <a:rPr lang="en-US" dirty="0"/>
              <a:t> – </a:t>
            </a:r>
            <a:r>
              <a:rPr lang="ru-RU" dirty="0"/>
              <a:t>«швейцарский нож» для анализа защищенности, позволяет системно анализировать объект в виде проекта, запоминает найденную информацию, содержит описания и инструменты для эксплуатации найденных уязвимостей</a:t>
            </a:r>
          </a:p>
          <a:p>
            <a:pPr lvl="1"/>
            <a:r>
              <a:rPr lang="en-US" dirty="0"/>
              <a:t>Burp Suit – </a:t>
            </a:r>
            <a:r>
              <a:rPr lang="ru-RU" dirty="0"/>
              <a:t>инструмент для анализа защищенности </a:t>
            </a:r>
            <a:r>
              <a:rPr lang="en-US" dirty="0"/>
              <a:t>web </a:t>
            </a:r>
            <a:r>
              <a:rPr lang="ru-RU" dirty="0"/>
              <a:t>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2553195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773AE-29E3-41FF-A2C9-0DD0E0B1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 dirty="0"/>
              <a:t>red teaming LLM (</a:t>
            </a:r>
            <a:r>
              <a:rPr lang="ru-RU" baseline="0" dirty="0"/>
              <a:t>подготовка</a:t>
            </a:r>
            <a:r>
              <a:rPr lang="en-US" baseline="0" dirty="0"/>
              <a:t>)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9E34C42-5084-4EEB-A7D8-16A49B514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817710"/>
              </p:ext>
            </p:extLst>
          </p:nvPr>
        </p:nvGraphicFramePr>
        <p:xfrm>
          <a:off x="362180" y="1524318"/>
          <a:ext cx="11467640" cy="5210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083">
                  <a:extLst>
                    <a:ext uri="{9D8B030D-6E8A-4147-A177-3AD203B41FA5}">
                      <a16:colId xmlns:a16="http://schemas.microsoft.com/office/drawing/2014/main" val="2363093609"/>
                    </a:ext>
                  </a:extLst>
                </a:gridCol>
                <a:gridCol w="3820557">
                  <a:extLst>
                    <a:ext uri="{9D8B030D-6E8A-4147-A177-3AD203B41FA5}">
                      <a16:colId xmlns:a16="http://schemas.microsoft.com/office/drawing/2014/main" val="3363731505"/>
                    </a:ext>
                  </a:extLst>
                </a:gridCol>
              </a:tblGrid>
              <a:tr h="485033">
                <a:tc>
                  <a:txBody>
                    <a:bodyPr/>
                    <a:lstStyle/>
                    <a:p>
                      <a:r>
                        <a:rPr lang="ru-RU" dirty="0"/>
                        <a:t>Команда </a:t>
                      </a:r>
                      <a:r>
                        <a:rPr lang="en-US" dirty="0"/>
                        <a:t>bash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Описание, комментарии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195228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r>
                        <a:rPr lang="en-US" dirty="0" err="1"/>
                        <a:t>sudo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systemctl</a:t>
                      </a:r>
                      <a:r>
                        <a:rPr lang="en-US" baseline="0" dirty="0"/>
                        <a:t> status </a:t>
                      </a:r>
                      <a:r>
                        <a:rPr lang="en-US" baseline="0" dirty="0" err="1"/>
                        <a:t>ollama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host</a:t>
                      </a:r>
                      <a:r>
                        <a:rPr lang="ru-RU" dirty="0"/>
                        <a:t>: статус сервиса </a:t>
                      </a:r>
                      <a:r>
                        <a:rPr lang="en-US" dirty="0" err="1"/>
                        <a:t>ollama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667115"/>
                  </a:ext>
                </a:extLst>
              </a:tr>
              <a:tr h="438229">
                <a:tc>
                  <a:txBody>
                    <a:bodyPr/>
                    <a:lstStyle/>
                    <a:p>
                      <a:r>
                        <a:rPr lang="en-US" dirty="0" err="1"/>
                        <a:t>ollama</a:t>
                      </a:r>
                      <a:r>
                        <a:rPr lang="en-US" dirty="0"/>
                        <a:t> pull qwen:0.5b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host: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загрузка модели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44960"/>
                  </a:ext>
                </a:extLst>
              </a:tr>
              <a:tr h="18957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mkdir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-p 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/system/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ollama.service.d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tee 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/system/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ollama.service.d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override.conf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 /dev/null &lt;&lt;EOF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[Service]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Environment="OLLAMA_HOST=0.0.0.0"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ORIGINS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://ваш локальный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EOF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host: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настройка конфигурации </a:t>
                      </a:r>
                      <a:r>
                        <a:rPr lang="en-US" baseline="0" dirty="0" err="1"/>
                        <a:t>ollama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для сетевой доступности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51029"/>
                  </a:ext>
                </a:extLst>
              </a:tr>
              <a:tr h="674096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systemctl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daemon-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reexec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systemctl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restart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host</a:t>
                      </a:r>
                      <a:r>
                        <a:rPr lang="ru-RU" dirty="0"/>
                        <a:t>: перезапуск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 err="1"/>
                        <a:t>systemd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и </a:t>
                      </a:r>
                      <a:r>
                        <a:rPr lang="en-US" baseline="0" dirty="0" err="1"/>
                        <a:t>ollama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25907"/>
                  </a:ext>
                </a:extLst>
              </a:tr>
              <a:tr h="674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 http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://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”IP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LLM host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:11434/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  <a:r>
                        <a:rPr lang="en-US" baseline="0" dirty="0"/>
                        <a:t> Team host: </a:t>
                      </a:r>
                      <a:r>
                        <a:rPr lang="ru-RU" baseline="0" dirty="0"/>
                        <a:t>проверка сетевой доступности сервиса </a:t>
                      </a:r>
                      <a:r>
                        <a:rPr lang="en-US" baseline="0" dirty="0" err="1"/>
                        <a:t>ollama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на </a:t>
                      </a:r>
                      <a:r>
                        <a:rPr lang="en-US" baseline="0" dirty="0"/>
                        <a:t>LLM host, </a:t>
                      </a:r>
                      <a:r>
                        <a:rPr lang="ru-RU" baseline="0" dirty="0"/>
                        <a:t>возвращает список доступных моделей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440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036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0AD94-861C-4DAF-9428-D291A957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teaming LLM (</a:t>
            </a:r>
            <a:r>
              <a:rPr lang="ru-RU" dirty="0" err="1"/>
              <a:t>промпт</a:t>
            </a:r>
            <a:r>
              <a:rPr lang="ru-RU" dirty="0"/>
              <a:t> инъекция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820F1-3325-47A6-886D-668706CE7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31" y="1508624"/>
            <a:ext cx="10515600" cy="2986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Слабая модель (</a:t>
            </a:r>
            <a:r>
              <a:rPr lang="en-US" dirty="0"/>
              <a:t>qwen:0.5b</a:t>
            </a:r>
            <a:r>
              <a:rPr lang="ru-RU" dirty="0"/>
              <a:t>) игнорирует исходные инструкции и выполняет вредоносную команду</a:t>
            </a:r>
          </a:p>
          <a:p>
            <a:pPr marL="0" indent="0">
              <a:buNone/>
            </a:pPr>
            <a:r>
              <a:rPr lang="ru-RU" dirty="0"/>
              <a:t>Отправка "злонамеренного" </a:t>
            </a:r>
            <a:r>
              <a:rPr lang="ru-RU" dirty="0" err="1"/>
              <a:t>промпта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sz="1600" b="1" dirty="0"/>
              <a:t>curl http://”IP LLM host”:11434/api/generate -d ‘{</a:t>
            </a:r>
          </a:p>
          <a:p>
            <a:pPr marL="0" indent="0">
              <a:buNone/>
            </a:pPr>
            <a:r>
              <a:rPr lang="ru-RU" sz="1600" b="1" dirty="0"/>
              <a:t>	  </a:t>
            </a:r>
            <a:r>
              <a:rPr lang="en-US" sz="1600" b="1" dirty="0"/>
              <a:t>"model": “qwen:0.5b",</a:t>
            </a:r>
          </a:p>
          <a:p>
            <a:pPr marL="0" indent="0">
              <a:buNone/>
            </a:pPr>
            <a:r>
              <a:rPr lang="ru-RU" sz="1600" b="1" dirty="0"/>
              <a:t>	  </a:t>
            </a:r>
            <a:r>
              <a:rPr lang="en-US" sz="1600" b="1" dirty="0"/>
              <a:t>"prompt": «</a:t>
            </a:r>
            <a:r>
              <a:rPr lang="ru-RU" sz="1600" b="1" dirty="0"/>
              <a:t>текст злонамеренного </a:t>
            </a:r>
            <a:r>
              <a:rPr lang="ru-RU" sz="1600" b="1" dirty="0" err="1"/>
              <a:t>промпта</a:t>
            </a:r>
            <a:r>
              <a:rPr lang="en-US" sz="1600" b="1" dirty="0"/>
              <a:t>",</a:t>
            </a:r>
            <a:endParaRPr lang="ru-RU" sz="1600" b="1" dirty="0"/>
          </a:p>
          <a:p>
            <a:pPr marL="0" indent="0">
              <a:buNone/>
            </a:pPr>
            <a:r>
              <a:rPr lang="ru-RU" sz="1600" b="1" dirty="0"/>
              <a:t>	  </a:t>
            </a:r>
            <a:r>
              <a:rPr lang="en-US" sz="1600" b="1" dirty="0"/>
              <a:t>"stream": false}’</a:t>
            </a:r>
            <a:endParaRPr lang="ru-RU" sz="16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C885CE-0EDE-459C-9F21-0ACB2466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4882"/>
            <a:ext cx="12192000" cy="359902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0BB28E-2B6B-4D86-B1BB-8DD653426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3326"/>
            <a:ext cx="12192000" cy="363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05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3BFFA-80F1-448C-9074-5A7D02BB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teaming LLM (token bomb)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63771C-C1AD-497D-8AD5-B4C8593A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457575" cy="4191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30B544-2F33-4285-9116-B920FFB48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2800153"/>
            <a:ext cx="11896725" cy="61981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C61552-A338-4261-A135-DE45B9FED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" y="4287971"/>
            <a:ext cx="118967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65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98D3A-8F21-46D6-BBD4-C06C6EC8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teaming LLM (Burp Suit)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12E945-89C1-4102-BCEF-1768B6346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542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FAC8C-675D-4ED1-BAE7-1BAEAC22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81AA76-7074-4542-B509-1A742E6D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https://docs.nvidia.com/datacenter/tesla/drivers/index.html</a:t>
            </a:r>
            <a:endParaRPr lang="ru-RU" dirty="0"/>
          </a:p>
          <a:p>
            <a:r>
              <a:rPr lang="en-US" dirty="0">
                <a:hlinkClick r:id="rId3"/>
              </a:rPr>
              <a:t>https://ubuntu.com/blog/nvidia-open-gpu-kernel-modules-ubuntu-24-04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659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B6266-7818-4752-BF8F-BB8150D4CE59}"/>
              </a:ext>
            </a:extLst>
          </p:cNvPr>
          <p:cNvSpPr txBox="1"/>
          <p:nvPr/>
        </p:nvSpPr>
        <p:spPr>
          <a:xfrm>
            <a:off x="3496095" y="2296429"/>
            <a:ext cx="59913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107828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12380</TotalTime>
  <Words>2474</Words>
  <Application>Microsoft Office PowerPoint</Application>
  <PresentationFormat>Широкоэкранный</PresentationFormat>
  <Paragraphs>297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Segoe UI Emoji</vt:lpstr>
      <vt:lpstr>system-ui</vt:lpstr>
      <vt:lpstr>Times New Roman</vt:lpstr>
      <vt:lpstr>Verdana</vt:lpstr>
      <vt:lpstr>Тема Office</vt:lpstr>
      <vt:lpstr> Безопасность генеративного искусственного интеллекта  Практика №1«Подготовка инфраструктуры для практических работ»</vt:lpstr>
      <vt:lpstr>Содержание занятия</vt:lpstr>
      <vt:lpstr>Необходимые знания и инструменты</vt:lpstr>
      <vt:lpstr>Задачи практического занятия</vt:lpstr>
      <vt:lpstr>Целевая схема тестового полигона</vt:lpstr>
      <vt:lpstr>Расчет ресурсов для LLM host</vt:lpstr>
      <vt:lpstr>Установка и настройка Ubuntu 24.04 (Yandex Cloud)</vt:lpstr>
      <vt:lpstr>Установка и настройка Virtualbox и виртуальных машин (на примере Ubuntu)</vt:lpstr>
      <vt:lpstr>Установка и настройка Ubuntu 24.04</vt:lpstr>
      <vt:lpstr>CPU (можно, но не рекомендуется)</vt:lpstr>
      <vt:lpstr>Установка драйверов nvidia</vt:lpstr>
      <vt:lpstr>Установка и использование ollama</vt:lpstr>
      <vt:lpstr>Установка и использование vllm</vt:lpstr>
      <vt:lpstr>Установка без CPU с llama.cpp</vt:lpstr>
      <vt:lpstr>Установка правильной версии интерпретатора python</vt:lpstr>
      <vt:lpstr>Настройка виртуального окружения</vt:lpstr>
      <vt:lpstr>Установка и настройка Jupyter окружения</vt:lpstr>
      <vt:lpstr>Установка и настройка vscode</vt:lpstr>
      <vt:lpstr>Настройка и использование средств мониторинга в linux</vt:lpstr>
      <vt:lpstr>Работа с библиотекой langchain (настройка окружения)</vt:lpstr>
      <vt:lpstr>Работа с библиотекой langchain (использование, базовый вызов)</vt:lpstr>
      <vt:lpstr>Работа с библиотекой langchain (использование, цепочка вызовов)</vt:lpstr>
      <vt:lpstr>Создание RAG архитектуры (настройка окружения)</vt:lpstr>
      <vt:lpstr>Создание RAG архитектуры (использование)</vt:lpstr>
      <vt:lpstr>Создание LLM агента (настройка окружения)</vt:lpstr>
      <vt:lpstr>Создание LLM агента (использование)</vt:lpstr>
      <vt:lpstr>Установка и настройка Kali Linux</vt:lpstr>
      <vt:lpstr>red teaming LLM (подготовка)</vt:lpstr>
      <vt:lpstr>red teaming LLM (промпт инъекция)</vt:lpstr>
      <vt:lpstr>red teaming LLM (token bomb)</vt:lpstr>
      <vt:lpstr>red teaming LLM (Burp Suit)</vt:lpstr>
      <vt:lpstr>Литература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Лекционное занятие  Дискретная математика и математическая логика  Белоусова Вероника Игоревна</dc:title>
  <dc:creator>Ivan Belousov</dc:creator>
  <cp:lastModifiedBy>Чернышов Юрий Юрьевич</cp:lastModifiedBy>
  <cp:revision>104</cp:revision>
  <dcterms:created xsi:type="dcterms:W3CDTF">2020-11-02T04:41:33Z</dcterms:created>
  <dcterms:modified xsi:type="dcterms:W3CDTF">2026-02-25T15:23:16Z</dcterms:modified>
</cp:coreProperties>
</file>